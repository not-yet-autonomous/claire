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9" r:id="rId4"/>
    <p:sldId id="270" r:id="rId5"/>
    <p:sldId id="271" r:id="rId6"/>
    <p:sldId id="280" r:id="rId7"/>
    <p:sldId id="273" r:id="rId8"/>
    <p:sldId id="279" r:id="rId9"/>
    <p:sldId id="275" r:id="rId10"/>
    <p:sldId id="276" r:id="rId11"/>
    <p:sldId id="277" r:id="rId12"/>
    <p:sldId id="278"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10" d="100"/>
          <a:sy n="210" d="100"/>
        </p:scale>
        <p:origin x="930"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6123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36"/>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A030"/>
          </a:solidFill>
          <a:ln w="12700">
            <a:solidFill>
              <a:srgbClr val="C5A030"/>
            </a:solidFill>
            <a:prstDash val="solid"/>
          </a:ln>
        </p:spPr>
        <p:txBody>
          <a:bodyPr/>
          <a:lstStyle/>
          <a:p>
            <a:endParaRPr lang="en-US"/>
          </a:p>
        </p:txBody>
      </p:sp>
      <p:sp>
        <p:nvSpPr>
          <p:cNvPr id="3" name="Shape 1"/>
          <p:cNvSpPr/>
          <p:nvPr/>
        </p:nvSpPr>
        <p:spPr>
          <a:xfrm>
            <a:off x="6400800" y="-1828800"/>
            <a:ext cx="4754880" cy="4754880"/>
          </a:xfrm>
          <a:prstGeom prst="ellipse">
            <a:avLst/>
          </a:prstGeom>
          <a:solidFill>
            <a:srgbClr val="2A4A73">
              <a:alpha val="45000"/>
            </a:srgbClr>
          </a:solidFill>
          <a:ln w="12700">
            <a:solidFill>
              <a:srgbClr val="2A4A73">
                <a:alpha val="45000"/>
              </a:srgbClr>
            </a:solidFill>
            <a:prstDash val="solid"/>
          </a:ln>
        </p:spPr>
        <p:txBody>
          <a:bodyPr/>
          <a:lstStyle/>
          <a:p>
            <a:endParaRPr lang="en-US"/>
          </a:p>
        </p:txBody>
      </p:sp>
      <p:sp>
        <p:nvSpPr>
          <p:cNvPr id="4" name="Shape 2"/>
          <p:cNvSpPr/>
          <p:nvPr/>
        </p:nvSpPr>
        <p:spPr>
          <a:xfrm>
            <a:off x="7132320" y="-1097280"/>
            <a:ext cx="3200400" cy="3200400"/>
          </a:xfrm>
          <a:prstGeom prst="ellipse">
            <a:avLst/>
          </a:prstGeom>
          <a:solidFill>
            <a:srgbClr val="2A4A73">
              <a:alpha val="55000"/>
            </a:srgbClr>
          </a:solidFill>
          <a:ln w="12700">
            <a:solidFill>
              <a:srgbClr val="2A4A73">
                <a:alpha val="55000"/>
              </a:srgbClr>
            </a:solidFill>
            <a:prstDash val="solid"/>
          </a:ln>
        </p:spPr>
        <p:txBody>
          <a:bodyPr/>
          <a:lstStyle/>
          <a:p>
            <a:endParaRPr lang="en-US"/>
          </a:p>
        </p:txBody>
      </p:sp>
      <p:sp>
        <p:nvSpPr>
          <p:cNvPr id="5" name="Text 3"/>
          <p:cNvSpPr/>
          <p:nvPr/>
        </p:nvSpPr>
        <p:spPr>
          <a:xfrm>
            <a:off x="411480" y="621792"/>
            <a:ext cx="8229600" cy="320040"/>
          </a:xfrm>
          <a:prstGeom prst="rect">
            <a:avLst/>
          </a:prstGeom>
          <a:noFill/>
          <a:ln/>
        </p:spPr>
        <p:txBody>
          <a:bodyPr wrap="square" lIns="0" tIns="0" rIns="0" bIns="0" rtlCol="0" anchor="ctr"/>
          <a:lstStyle/>
          <a:p>
            <a:pPr marL="0" indent="0">
              <a:buNone/>
            </a:pPr>
            <a:r>
              <a:rPr lang="en-US" sz="1100" b="1" kern="0" spc="300" dirty="0">
                <a:solidFill>
                  <a:srgbClr val="C5A030"/>
                </a:solidFill>
                <a:latin typeface="Calibri" pitchFamily="34" charset="0"/>
                <a:ea typeface="Calibri" pitchFamily="34" charset="-122"/>
                <a:cs typeface="Calibri" pitchFamily="34" charset="-120"/>
              </a:rPr>
              <a:t>C  ·  L  ·  A  ·  I  ·  R  ·  E</a:t>
            </a:r>
            <a:endParaRPr lang="en-US" sz="1100" dirty="0"/>
          </a:p>
        </p:txBody>
      </p:sp>
      <p:sp>
        <p:nvSpPr>
          <p:cNvPr id="6" name="Text 4"/>
          <p:cNvSpPr/>
          <p:nvPr/>
        </p:nvSpPr>
        <p:spPr>
          <a:xfrm>
            <a:off x="411480" y="1005840"/>
            <a:ext cx="8046720" cy="196596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Claude Learns and Improves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Iteratively from Real Engagement</a:t>
            </a:r>
            <a:endParaRPr lang="en-US" sz="3600" dirty="0"/>
          </a:p>
        </p:txBody>
      </p:sp>
      <p:sp>
        <p:nvSpPr>
          <p:cNvPr id="7" name="Text 5"/>
          <p:cNvSpPr/>
          <p:nvPr/>
        </p:nvSpPr>
        <p:spPr>
          <a:xfrm>
            <a:off x="411480" y="3063240"/>
            <a:ext cx="7498080" cy="749808"/>
          </a:xfrm>
          <a:prstGeom prst="rect">
            <a:avLst/>
          </a:prstGeom>
          <a:noFill/>
          <a:ln/>
        </p:spPr>
        <p:txBody>
          <a:bodyPr wrap="square" lIns="0" tIns="0" rIns="0" bIns="0" rtlCol="0" anchor="ctr"/>
          <a:lstStyle/>
          <a:p>
            <a:pPr marL="0" indent="0">
              <a:buNone/>
            </a:pPr>
            <a:r>
              <a:rPr lang="en-US" sz="1400" dirty="0">
                <a:solidFill>
                  <a:srgbClr val="E2E8F0"/>
                </a:solidFill>
                <a:latin typeface="Calibri" pitchFamily="34" charset="0"/>
                <a:ea typeface="Calibri" pitchFamily="34" charset="-122"/>
                <a:cs typeface="Calibri" pitchFamily="34" charset="-120"/>
              </a:rPr>
              <a:t>An internal AI optimization system built to make Claude measurably</a:t>
            </a:r>
            <a:endParaRPr lang="en-US" sz="1400" dirty="0"/>
          </a:p>
          <a:p>
            <a:pPr marL="0" indent="0">
              <a:buNone/>
            </a:pPr>
            <a:r>
              <a:rPr lang="en-US" sz="1400" dirty="0">
                <a:solidFill>
                  <a:srgbClr val="E2E8F0"/>
                </a:solidFill>
                <a:latin typeface="Calibri" pitchFamily="34" charset="0"/>
                <a:ea typeface="Calibri" pitchFamily="34" charset="-122"/>
                <a:cs typeface="Calibri" pitchFamily="34" charset="-120"/>
              </a:rPr>
              <a:t>better at your specific work — and to understand how.</a:t>
            </a:r>
            <a:endParaRPr lang="en-US" sz="1400" dirty="0"/>
          </a:p>
        </p:txBody>
      </p:sp>
      <p:sp>
        <p:nvSpPr>
          <p:cNvPr id="8" name="Shape 6"/>
          <p:cNvSpPr/>
          <p:nvPr/>
        </p:nvSpPr>
        <p:spPr>
          <a:xfrm>
            <a:off x="164592" y="4663440"/>
            <a:ext cx="8979408" cy="0"/>
          </a:xfrm>
          <a:prstGeom prst="line">
            <a:avLst/>
          </a:prstGeom>
          <a:noFill/>
          <a:ln w="12700">
            <a:solidFill>
              <a:srgbClr val="C5A030"/>
            </a:solidFill>
            <a:prstDash val="solid"/>
          </a:ln>
        </p:spPr>
        <p:txBody>
          <a:bodyPr/>
          <a:lstStyle/>
          <a:p>
            <a:endParaRPr lang="en-US"/>
          </a:p>
        </p:txBody>
      </p:sp>
      <p:sp>
        <p:nvSpPr>
          <p:cNvPr id="9" name="Text 7"/>
          <p:cNvSpPr/>
          <p:nvPr/>
        </p:nvSpPr>
        <p:spPr>
          <a:xfrm>
            <a:off x="411480" y="4773168"/>
            <a:ext cx="8229600" cy="237744"/>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INTERNAL  ·  APRIL 2026  ·  BUILD 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STARTING POINT</a:t>
            </a:r>
            <a:endParaRPr lang="en-US" sz="800" dirty="0"/>
          </a:p>
        </p:txBody>
      </p:sp>
      <p:sp>
        <p:nvSpPr>
          <p:cNvPr id="3" name="Text 1"/>
          <p:cNvSpPr/>
          <p:nvPr/>
        </p:nvSpPr>
        <p:spPr>
          <a:xfrm>
            <a:off x="411480" y="475488"/>
            <a:ext cx="8321040" cy="868680"/>
          </a:xfrm>
          <a:prstGeom prst="rect">
            <a:avLst/>
          </a:prstGeom>
          <a:noFill/>
          <a:ln/>
        </p:spPr>
        <p:txBody>
          <a:bodyPr wrap="square" lIns="0" tIns="0" rIns="0" bIns="0" rtlCol="0" anchor="ctr"/>
          <a:lstStyle/>
          <a:p>
            <a:pPr marL="0" indent="0">
              <a:buNone/>
            </a:pPr>
            <a:r>
              <a:rPr lang="en-US" sz="2800" b="1" dirty="0">
                <a:solidFill>
                  <a:srgbClr val="1E3A5F"/>
                </a:solidFill>
                <a:latin typeface="Georgia" pitchFamily="34" charset="0"/>
                <a:ea typeface="Georgia" pitchFamily="34" charset="-122"/>
                <a:cs typeface="Georgia" pitchFamily="34" charset="-120"/>
              </a:rPr>
              <a:t>Most people use AI like a search engine.</a:t>
            </a:r>
            <a:endParaRPr lang="en-US" sz="2800" dirty="0"/>
          </a:p>
          <a:p>
            <a:pPr marL="0" indent="0">
              <a:buNone/>
            </a:pPr>
            <a:r>
              <a:rPr lang="en-US" sz="2800" b="1" dirty="0">
                <a:solidFill>
                  <a:srgbClr val="1E3A5F"/>
                </a:solidFill>
                <a:latin typeface="Georgia" pitchFamily="34" charset="0"/>
                <a:ea typeface="Georgia" pitchFamily="34" charset="-122"/>
                <a:cs typeface="Georgia" pitchFamily="34" charset="-120"/>
              </a:rPr>
              <a:t>That's not its ceiling.</a:t>
            </a:r>
            <a:endParaRPr lang="en-US" sz="2800" dirty="0"/>
          </a:p>
        </p:txBody>
      </p:sp>
      <p:sp>
        <p:nvSpPr>
          <p:cNvPr id="4" name="Shape 2"/>
          <p:cNvSpPr/>
          <p:nvPr/>
        </p:nvSpPr>
        <p:spPr>
          <a:xfrm>
            <a:off x="411480" y="1481328"/>
            <a:ext cx="3840480" cy="324612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411480" y="1481328"/>
            <a:ext cx="3840480" cy="384048"/>
          </a:xfrm>
          <a:prstGeom prst="rect">
            <a:avLst/>
          </a:prstGeom>
          <a:solidFill>
            <a:srgbClr val="E2E8F0"/>
          </a:solidFill>
          <a:ln w="12700">
            <a:solidFill>
              <a:srgbClr val="E2E8F0"/>
            </a:solidFill>
            <a:prstDash val="solid"/>
          </a:ln>
        </p:spPr>
        <p:txBody>
          <a:bodyPr/>
          <a:lstStyle/>
          <a:p>
            <a:endParaRPr lang="en-US"/>
          </a:p>
        </p:txBody>
      </p:sp>
      <p:sp>
        <p:nvSpPr>
          <p:cNvPr id="6" name="Text 4"/>
          <p:cNvSpPr/>
          <p:nvPr/>
        </p:nvSpPr>
        <p:spPr>
          <a:xfrm>
            <a:off x="502920" y="1508760"/>
            <a:ext cx="3657600" cy="320040"/>
          </a:xfrm>
          <a:prstGeom prst="rect">
            <a:avLst/>
          </a:prstGeom>
          <a:noFill/>
          <a:ln/>
        </p:spPr>
        <p:txBody>
          <a:bodyPr wrap="square" lIns="0" tIns="0" rIns="0" bIns="0" rtlCol="0" anchor="ctr"/>
          <a:lstStyle/>
          <a:p>
            <a:pPr marL="0" indent="0">
              <a:buNone/>
            </a:pPr>
            <a:r>
              <a:rPr lang="en-US" sz="900" b="1" kern="0" spc="100" dirty="0">
                <a:solidFill>
                  <a:srgbClr val="64748B"/>
                </a:solidFill>
                <a:latin typeface="Calibri" pitchFamily="34" charset="0"/>
                <a:ea typeface="Calibri" pitchFamily="34" charset="-122"/>
                <a:cs typeface="Calibri" pitchFamily="34" charset="-120"/>
              </a:rPr>
              <a:t>WHAT MOST PEOPLE EXPERIENCE</a:t>
            </a:r>
            <a:endParaRPr lang="en-US" sz="900" dirty="0"/>
          </a:p>
        </p:txBody>
      </p:sp>
      <p:sp>
        <p:nvSpPr>
          <p:cNvPr id="7" name="Text 5"/>
          <p:cNvSpPr/>
          <p:nvPr/>
        </p:nvSpPr>
        <p:spPr>
          <a:xfrm>
            <a:off x="548640" y="1993392"/>
            <a:ext cx="3566160" cy="256032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Ask a question, get an answer</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Draft an email, clean it up</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Summarize a document</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Generic output — same for everyone</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No memory of past sessions</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Optimized for average, not for you</a:t>
            </a:r>
            <a:endParaRPr lang="en-US" sz="1300" dirty="0"/>
          </a:p>
        </p:txBody>
      </p:sp>
      <p:sp>
        <p:nvSpPr>
          <p:cNvPr id="8" name="Shape 6"/>
          <p:cNvSpPr/>
          <p:nvPr/>
        </p:nvSpPr>
        <p:spPr>
          <a:xfrm>
            <a:off x="4663440" y="1481328"/>
            <a:ext cx="4069080" cy="3246120"/>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9" name="Shape 7"/>
          <p:cNvSpPr/>
          <p:nvPr/>
        </p:nvSpPr>
        <p:spPr>
          <a:xfrm>
            <a:off x="4663440" y="1481328"/>
            <a:ext cx="4069080" cy="384048"/>
          </a:xfrm>
          <a:prstGeom prst="rect">
            <a:avLst/>
          </a:prstGeom>
          <a:solidFill>
            <a:srgbClr val="C5A030"/>
          </a:solidFill>
          <a:ln w="12700">
            <a:solidFill>
              <a:srgbClr val="C5A030"/>
            </a:solidFill>
            <a:prstDash val="solid"/>
          </a:ln>
        </p:spPr>
        <p:txBody>
          <a:bodyPr/>
          <a:lstStyle/>
          <a:p>
            <a:endParaRPr lang="en-US"/>
          </a:p>
        </p:txBody>
      </p:sp>
      <p:sp>
        <p:nvSpPr>
          <p:cNvPr id="10" name="Text 8"/>
          <p:cNvSpPr/>
          <p:nvPr/>
        </p:nvSpPr>
        <p:spPr>
          <a:xfrm>
            <a:off x="4754880" y="1508760"/>
            <a:ext cx="3840480" cy="320040"/>
          </a:xfrm>
          <a:prstGeom prst="rect">
            <a:avLst/>
          </a:prstGeom>
          <a:noFill/>
          <a:ln/>
        </p:spPr>
        <p:txBody>
          <a:bodyPr wrap="square" lIns="0" tIns="0" rIns="0" bIns="0" rtlCol="0" anchor="ctr"/>
          <a:lstStyle/>
          <a:p>
            <a:pPr marL="0" indent="0">
              <a:buNone/>
            </a:pPr>
            <a:r>
              <a:rPr lang="en-US" sz="900" b="1" kern="0" spc="100" dirty="0">
                <a:solidFill>
                  <a:srgbClr val="0F2036"/>
                </a:solidFill>
                <a:latin typeface="Calibri" pitchFamily="34" charset="0"/>
                <a:ea typeface="Calibri" pitchFamily="34" charset="-122"/>
                <a:cs typeface="Calibri" pitchFamily="34" charset="-120"/>
              </a:rPr>
              <a:t>WHAT'S ACTUALLY POSSIBLE</a:t>
            </a:r>
            <a:endParaRPr lang="en-US" sz="900" dirty="0"/>
          </a:p>
        </p:txBody>
      </p:sp>
      <p:sp>
        <p:nvSpPr>
          <p:cNvPr id="11" name="Text 9"/>
          <p:cNvSpPr/>
          <p:nvPr/>
        </p:nvSpPr>
        <p:spPr>
          <a:xfrm>
            <a:off x="4773168" y="1993392"/>
            <a:ext cx="3840480" cy="25603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  AI that knows your role and context</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Output calibrated to expert-level standards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Preferences that persist across sessions</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Behavior shaped by how you actually work</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A system that gets better over time</a:t>
            </a: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  Competitive advantage, not just convenience</a:t>
            </a:r>
            <a:endParaRPr lang="en-US" sz="1300" dirty="0"/>
          </a:p>
        </p:txBody>
      </p:sp>
      <p:sp>
        <p:nvSpPr>
          <p:cNvPr id="12" name="Text 10"/>
          <p:cNvSpPr/>
          <p:nvPr/>
        </p:nvSpPr>
        <p:spPr>
          <a:xfrm>
            <a:off x="411480" y="4846320"/>
            <a:ext cx="8321040" cy="237744"/>
          </a:xfrm>
          <a:prstGeom prst="rect">
            <a:avLst/>
          </a:prstGeom>
          <a:noFill/>
          <a:ln/>
        </p:spPr>
        <p:txBody>
          <a:bodyPr wrap="square" lIns="0" tIns="0" rIns="0" bIns="0" rtlCol="0" anchor="ctr"/>
          <a:lstStyle/>
          <a:p>
            <a:pPr marL="0" indent="0">
              <a:buNone/>
            </a:pPr>
            <a:r>
              <a:rPr lang="en-US" sz="1100" i="1" dirty="0">
                <a:solidFill>
                  <a:srgbClr val="C5A030"/>
                </a:solidFill>
                <a:latin typeface="Calibri" pitchFamily="34" charset="0"/>
                <a:ea typeface="Calibri" pitchFamily="34" charset="-122"/>
                <a:cs typeface="Calibri" pitchFamily="34" charset="-120"/>
              </a:rPr>
              <a:t>CLAIRE was built to close that gap — systematically, measurably, and without guessing.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WHAT IS CLAIRE</a:t>
            </a:r>
            <a:endParaRPr lang="en-US" sz="800" dirty="0"/>
          </a:p>
        </p:txBody>
      </p:sp>
      <p:sp>
        <p:nvSpPr>
          <p:cNvPr id="3" name="Text 1"/>
          <p:cNvSpPr/>
          <p:nvPr/>
        </p:nvSpPr>
        <p:spPr>
          <a:xfrm>
            <a:off x="411480" y="475488"/>
            <a:ext cx="8321040" cy="868680"/>
          </a:xfrm>
          <a:prstGeom prst="rect">
            <a:avLst/>
          </a:prstGeom>
          <a:noFill/>
          <a:ln/>
        </p:spPr>
        <p:txBody>
          <a:bodyPr wrap="square" lIns="0" tIns="0" rIns="0" bIns="0" rtlCol="0" anchor="ctr"/>
          <a:lstStyle/>
          <a:p>
            <a:pPr marL="0" indent="0">
              <a:buNone/>
            </a:pPr>
            <a:r>
              <a:rPr lang="en-US" sz="2000" b="1" dirty="0">
                <a:solidFill>
                  <a:srgbClr val="1E3A5F"/>
                </a:solidFill>
                <a:latin typeface="Georgia" pitchFamily="34" charset="0"/>
                <a:ea typeface="Georgia" pitchFamily="34" charset="-122"/>
                <a:cs typeface="Georgia" pitchFamily="34" charset="-120"/>
              </a:rPr>
              <a:t>CLAIRE is not a product.</a:t>
            </a:r>
            <a:endParaRPr lang="en-US" sz="2000" dirty="0"/>
          </a:p>
          <a:p>
            <a:pPr marL="0" indent="0">
              <a:buNone/>
            </a:pPr>
            <a:r>
              <a:rPr lang="en-US" sz="2000" b="1" dirty="0">
                <a:solidFill>
                  <a:srgbClr val="1E3A5F"/>
                </a:solidFill>
                <a:latin typeface="Georgia" pitchFamily="34" charset="0"/>
                <a:ea typeface="Georgia" pitchFamily="34" charset="-122"/>
                <a:cs typeface="Georgia" pitchFamily="34" charset="-120"/>
              </a:rPr>
              <a:t>It's a practice — with automation built around it.</a:t>
            </a:r>
            <a:endParaRPr lang="en-US" sz="2000" dirty="0"/>
          </a:p>
        </p:txBody>
      </p:sp>
      <p:sp>
        <p:nvSpPr>
          <p:cNvPr id="4" name="Shape 2"/>
          <p:cNvSpPr/>
          <p:nvPr/>
        </p:nvSpPr>
        <p:spPr>
          <a:xfrm>
            <a:off x="411480" y="1481328"/>
            <a:ext cx="8321040" cy="896112"/>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411480" y="1481328"/>
            <a:ext cx="73152" cy="896112"/>
          </a:xfrm>
          <a:prstGeom prst="rect">
            <a:avLst/>
          </a:prstGeom>
          <a:solidFill>
            <a:srgbClr val="C5A030"/>
          </a:solidFill>
          <a:ln w="12700">
            <a:solidFill>
              <a:srgbClr val="C5A030"/>
            </a:solidFill>
            <a:prstDash val="solid"/>
          </a:ln>
        </p:spPr>
        <p:txBody>
          <a:bodyPr/>
          <a:lstStyle/>
          <a:p>
            <a:endParaRPr lang="en-US"/>
          </a:p>
        </p:txBody>
      </p:sp>
      <p:sp>
        <p:nvSpPr>
          <p:cNvPr id="6" name="Text 4"/>
          <p:cNvSpPr/>
          <p:nvPr/>
        </p:nvSpPr>
        <p:spPr>
          <a:xfrm>
            <a:off x="594360" y="1554480"/>
            <a:ext cx="7955280" cy="749808"/>
          </a:xfrm>
          <a:prstGeom prst="rect">
            <a:avLst/>
          </a:prstGeom>
          <a:noFill/>
          <a:ln/>
        </p:spPr>
        <p:txBody>
          <a:bodyPr wrap="square" lIns="0" tIns="0" rIns="0" bIns="0" rtlCol="0" anchor="ctr"/>
          <a:lstStyle/>
          <a:p>
            <a:pPr marL="0" indent="0">
              <a:buNone/>
            </a:pPr>
            <a:r>
              <a:rPr lang="en-US" sz="1400" b="1" dirty="0">
                <a:solidFill>
                  <a:srgbClr val="C5A030"/>
                </a:solidFill>
              </a:rPr>
              <a:t>CLAIRE  </a:t>
            </a:r>
            <a:r>
              <a:rPr lang="en-US" sz="1400" dirty="0">
                <a:solidFill>
                  <a:srgbClr val="FFFFFF"/>
                </a:solidFill>
              </a:rPr>
              <a:t>is a weekly automated pipeline that reads real-world discussions about Claude, identifies patterns relevant to a specific user's work, and surfaces configuration improvements for human review. The human decides what gets applied. Claude gets measurably better. The loop closes.</a:t>
            </a:r>
            <a:endParaRPr lang="en-US" sz="1400" dirty="0"/>
          </a:p>
        </p:txBody>
      </p:sp>
      <p:sp>
        <p:nvSpPr>
          <p:cNvPr id="7" name="Shape 5"/>
          <p:cNvSpPr/>
          <p:nvPr/>
        </p:nvSpPr>
        <p:spPr>
          <a:xfrm>
            <a:off x="411480" y="2542032"/>
            <a:ext cx="2651760" cy="21844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8" name="Shape 6"/>
          <p:cNvSpPr/>
          <p:nvPr/>
        </p:nvSpPr>
        <p:spPr>
          <a:xfrm>
            <a:off x="411480" y="2542032"/>
            <a:ext cx="2651760" cy="54864"/>
          </a:xfrm>
          <a:prstGeom prst="rect">
            <a:avLst/>
          </a:prstGeom>
          <a:solidFill>
            <a:srgbClr val="C5A030"/>
          </a:solidFill>
          <a:ln w="12700">
            <a:solidFill>
              <a:srgbClr val="C5A030"/>
            </a:solidFill>
            <a:prstDash val="solid"/>
          </a:ln>
        </p:spPr>
        <p:txBody>
          <a:bodyPr/>
          <a:lstStyle/>
          <a:p>
            <a:endParaRPr lang="en-US"/>
          </a:p>
        </p:txBody>
      </p:sp>
      <p:sp>
        <p:nvSpPr>
          <p:cNvPr id="9" name="Shape 7"/>
          <p:cNvSpPr/>
          <p:nvPr/>
        </p:nvSpPr>
        <p:spPr>
          <a:xfrm>
            <a:off x="1325880" y="2670048"/>
            <a:ext cx="822960" cy="822960"/>
          </a:xfrm>
          <a:prstGeom prst="ellipse">
            <a:avLst/>
          </a:prstGeom>
          <a:solidFill>
            <a:srgbClr val="1E3A5F"/>
          </a:solidFill>
          <a:ln w="12700">
            <a:solidFill>
              <a:srgbClr val="1E3A5F"/>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1490472" y="2779776"/>
            <a:ext cx="493776" cy="493776"/>
          </a:xfrm>
          <a:prstGeom prst="rect">
            <a:avLst/>
          </a:prstGeom>
        </p:spPr>
      </p:pic>
      <p:sp>
        <p:nvSpPr>
          <p:cNvPr id="11" name="Text 8"/>
          <p:cNvSpPr/>
          <p:nvPr/>
        </p:nvSpPr>
        <p:spPr>
          <a:xfrm>
            <a:off x="502920" y="3566160"/>
            <a:ext cx="2468880" cy="292608"/>
          </a:xfrm>
          <a:prstGeom prst="rect">
            <a:avLst/>
          </a:prstGeom>
          <a:noFill/>
          <a:ln/>
        </p:spPr>
        <p:txBody>
          <a:bodyPr wrap="square" lIns="0" tIns="0" rIns="0" bIns="0" rtlCol="0" anchor="ctr"/>
          <a:lstStyle/>
          <a:p>
            <a:pPr marL="0" indent="0" algn="ctr">
              <a:buNone/>
            </a:pPr>
            <a:r>
              <a:rPr lang="en-US" sz="1400" b="1" dirty="0">
                <a:solidFill>
                  <a:srgbClr val="1E3A5F"/>
                </a:solidFill>
                <a:latin typeface="Calibri" pitchFamily="34" charset="0"/>
                <a:ea typeface="Calibri" pitchFamily="34" charset="-122"/>
                <a:cs typeface="Calibri" pitchFamily="34" charset="-120"/>
              </a:rPr>
              <a:t>OBSERVE</a:t>
            </a:r>
            <a:endParaRPr lang="en-US" sz="1400" dirty="0"/>
          </a:p>
        </p:txBody>
      </p:sp>
      <p:sp>
        <p:nvSpPr>
          <p:cNvPr id="12" name="Text 9"/>
          <p:cNvSpPr/>
          <p:nvPr/>
        </p:nvSpPr>
        <p:spPr>
          <a:xfrm>
            <a:off x="548640" y="3895344"/>
            <a:ext cx="2377440" cy="804672"/>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Reads thousands of real user discussions — Reddit, Hacker News, developer forums</a:t>
            </a:r>
            <a:endParaRPr lang="en-US" sz="1400" dirty="0"/>
          </a:p>
        </p:txBody>
      </p:sp>
      <p:sp>
        <p:nvSpPr>
          <p:cNvPr id="13" name="Shape 10"/>
          <p:cNvSpPr/>
          <p:nvPr/>
        </p:nvSpPr>
        <p:spPr>
          <a:xfrm>
            <a:off x="3246120" y="2542032"/>
            <a:ext cx="2651760" cy="21844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1"/>
          <p:cNvSpPr/>
          <p:nvPr/>
        </p:nvSpPr>
        <p:spPr>
          <a:xfrm>
            <a:off x="3246120" y="2542032"/>
            <a:ext cx="2651760" cy="54864"/>
          </a:xfrm>
          <a:prstGeom prst="rect">
            <a:avLst/>
          </a:prstGeom>
          <a:solidFill>
            <a:srgbClr val="C5A030"/>
          </a:solidFill>
          <a:ln w="12700">
            <a:solidFill>
              <a:srgbClr val="C5A030"/>
            </a:solidFill>
            <a:prstDash val="solid"/>
          </a:ln>
        </p:spPr>
        <p:txBody>
          <a:bodyPr/>
          <a:lstStyle/>
          <a:p>
            <a:endParaRPr lang="en-US"/>
          </a:p>
        </p:txBody>
      </p:sp>
      <p:sp>
        <p:nvSpPr>
          <p:cNvPr id="15" name="Shape 12"/>
          <p:cNvSpPr/>
          <p:nvPr/>
        </p:nvSpPr>
        <p:spPr>
          <a:xfrm>
            <a:off x="4160520" y="2670048"/>
            <a:ext cx="822960" cy="822960"/>
          </a:xfrm>
          <a:prstGeom prst="ellipse">
            <a:avLst/>
          </a:prstGeom>
          <a:solidFill>
            <a:srgbClr val="1E3A5F"/>
          </a:solidFill>
          <a:ln w="12700">
            <a:solidFill>
              <a:srgbClr val="1E3A5F"/>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325112" y="2779776"/>
            <a:ext cx="493776" cy="493776"/>
          </a:xfrm>
          <a:prstGeom prst="rect">
            <a:avLst/>
          </a:prstGeom>
        </p:spPr>
      </p:pic>
      <p:sp>
        <p:nvSpPr>
          <p:cNvPr id="17" name="Text 13"/>
          <p:cNvSpPr/>
          <p:nvPr/>
        </p:nvSpPr>
        <p:spPr>
          <a:xfrm>
            <a:off x="3337560" y="3566160"/>
            <a:ext cx="2468880" cy="292608"/>
          </a:xfrm>
          <a:prstGeom prst="rect">
            <a:avLst/>
          </a:prstGeom>
          <a:noFill/>
          <a:ln/>
        </p:spPr>
        <p:txBody>
          <a:bodyPr wrap="square" lIns="0" tIns="0" rIns="0" bIns="0" rtlCol="0" anchor="ctr"/>
          <a:lstStyle/>
          <a:p>
            <a:pPr marL="0" indent="0" algn="ctr">
              <a:buNone/>
            </a:pPr>
            <a:r>
              <a:rPr lang="en-US" sz="1400" b="1" dirty="0">
                <a:solidFill>
                  <a:srgbClr val="1E3A5F"/>
                </a:solidFill>
                <a:latin typeface="Calibri" pitchFamily="34" charset="0"/>
                <a:ea typeface="Calibri" pitchFamily="34" charset="-122"/>
                <a:cs typeface="Calibri" pitchFamily="34" charset="-120"/>
              </a:rPr>
              <a:t>TRIAGE</a:t>
            </a:r>
            <a:endParaRPr lang="en-US" sz="1400" dirty="0"/>
          </a:p>
        </p:txBody>
      </p:sp>
      <p:sp>
        <p:nvSpPr>
          <p:cNvPr id="18" name="Text 14"/>
          <p:cNvSpPr/>
          <p:nvPr/>
        </p:nvSpPr>
        <p:spPr>
          <a:xfrm>
            <a:off x="3383280" y="3895344"/>
            <a:ext cx="2377440" cy="804672"/>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AI filters signal from noise: real friction vs. one-off complaint</a:t>
            </a:r>
            <a:endParaRPr lang="en-US" sz="1400" dirty="0"/>
          </a:p>
        </p:txBody>
      </p:sp>
      <p:sp>
        <p:nvSpPr>
          <p:cNvPr id="19" name="Shape 15"/>
          <p:cNvSpPr/>
          <p:nvPr/>
        </p:nvSpPr>
        <p:spPr>
          <a:xfrm>
            <a:off x="6080760" y="2542032"/>
            <a:ext cx="2651760" cy="21844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6"/>
          <p:cNvSpPr/>
          <p:nvPr/>
        </p:nvSpPr>
        <p:spPr>
          <a:xfrm>
            <a:off x="6080760" y="2542032"/>
            <a:ext cx="2651760" cy="54864"/>
          </a:xfrm>
          <a:prstGeom prst="rect">
            <a:avLst/>
          </a:prstGeom>
          <a:solidFill>
            <a:srgbClr val="C5A030"/>
          </a:solidFill>
          <a:ln w="12700">
            <a:solidFill>
              <a:srgbClr val="C5A030"/>
            </a:solidFill>
            <a:prstDash val="solid"/>
          </a:ln>
        </p:spPr>
        <p:txBody>
          <a:bodyPr/>
          <a:lstStyle/>
          <a:p>
            <a:endParaRPr lang="en-US"/>
          </a:p>
        </p:txBody>
      </p:sp>
      <p:sp>
        <p:nvSpPr>
          <p:cNvPr id="21" name="Shape 17"/>
          <p:cNvSpPr/>
          <p:nvPr/>
        </p:nvSpPr>
        <p:spPr>
          <a:xfrm>
            <a:off x="6995160" y="2670048"/>
            <a:ext cx="822960" cy="822960"/>
          </a:xfrm>
          <a:prstGeom prst="ellipse">
            <a:avLst/>
          </a:prstGeom>
          <a:solidFill>
            <a:srgbClr val="1E3A5F"/>
          </a:solidFill>
          <a:ln w="12700">
            <a:solidFill>
              <a:srgbClr val="1E3A5F"/>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7159752" y="2779776"/>
            <a:ext cx="493776" cy="493776"/>
          </a:xfrm>
          <a:prstGeom prst="rect">
            <a:avLst/>
          </a:prstGeom>
        </p:spPr>
      </p:pic>
      <p:sp>
        <p:nvSpPr>
          <p:cNvPr id="23" name="Text 18"/>
          <p:cNvSpPr/>
          <p:nvPr/>
        </p:nvSpPr>
        <p:spPr>
          <a:xfrm>
            <a:off x="6172200" y="3566160"/>
            <a:ext cx="2468880" cy="292608"/>
          </a:xfrm>
          <a:prstGeom prst="rect">
            <a:avLst/>
          </a:prstGeom>
          <a:noFill/>
          <a:ln/>
        </p:spPr>
        <p:txBody>
          <a:bodyPr wrap="square" lIns="0" tIns="0" rIns="0" bIns="0" rtlCol="0" anchor="ctr"/>
          <a:lstStyle/>
          <a:p>
            <a:pPr marL="0" indent="0" algn="ctr">
              <a:buNone/>
            </a:pPr>
            <a:r>
              <a:rPr lang="en-US" sz="1400" b="1" dirty="0">
                <a:solidFill>
                  <a:srgbClr val="1E3A5F"/>
                </a:solidFill>
                <a:latin typeface="Calibri" pitchFamily="34" charset="0"/>
                <a:ea typeface="Calibri" pitchFamily="34" charset="-122"/>
                <a:cs typeface="Calibri" pitchFamily="34" charset="-120"/>
              </a:rPr>
              <a:t>IMPROVE</a:t>
            </a:r>
            <a:endParaRPr lang="en-US" sz="1400" dirty="0"/>
          </a:p>
        </p:txBody>
      </p:sp>
      <p:sp>
        <p:nvSpPr>
          <p:cNvPr id="24" name="Text 19"/>
          <p:cNvSpPr/>
          <p:nvPr/>
        </p:nvSpPr>
        <p:spPr>
          <a:xfrm>
            <a:off x="6217920" y="3895344"/>
            <a:ext cx="2377440" cy="804672"/>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Surfaces concrete configuration candidates for human review — evidence-backed</a:t>
            </a:r>
            <a:endParaRPr lang="en-US" sz="1400" dirty="0"/>
          </a:p>
        </p:txBody>
      </p:sp>
      <p:sp>
        <p:nvSpPr>
          <p:cNvPr id="25" name="Shape 20"/>
          <p:cNvSpPr/>
          <p:nvPr/>
        </p:nvSpPr>
        <p:spPr>
          <a:xfrm>
            <a:off x="411480" y="4791456"/>
            <a:ext cx="8321040" cy="256032"/>
          </a:xfrm>
          <a:prstGeom prst="rect">
            <a:avLst/>
          </a:prstGeom>
          <a:solidFill>
            <a:srgbClr val="E2E8F0"/>
          </a:solidFill>
          <a:ln w="12700">
            <a:solidFill>
              <a:srgbClr val="E2E8F0"/>
            </a:solidFill>
            <a:prstDash val="solid"/>
          </a:ln>
        </p:spPr>
        <p:txBody>
          <a:bodyPr/>
          <a:lstStyle/>
          <a:p>
            <a:endParaRPr lang="en-US"/>
          </a:p>
        </p:txBody>
      </p:sp>
      <p:sp>
        <p:nvSpPr>
          <p:cNvPr id="26" name="Text 21"/>
          <p:cNvSpPr/>
          <p:nvPr/>
        </p:nvSpPr>
        <p:spPr>
          <a:xfrm>
            <a:off x="502920" y="4818888"/>
            <a:ext cx="8138160" cy="201168"/>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Runs in under 2 minutes  ·  ~$0.30/week in AI compute  ·  Requires one human decision per candidate</a:t>
            </a:r>
            <a:endParaRPr lang="en-US" sz="1400" dirty="0"/>
          </a:p>
        </p:txBody>
      </p:sp>
    </p:spTree>
    <p:extLst>
      <p:ext uri="{BB962C8B-B14F-4D97-AF65-F5344CB8AC3E}">
        <p14:creationId xmlns:p14="http://schemas.microsoft.com/office/powerpoint/2010/main" val="1595550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PHILOSOPHY</a:t>
            </a:r>
            <a:endParaRPr lang="en-US" sz="800" dirty="0"/>
          </a:p>
        </p:txBody>
      </p:sp>
      <p:sp>
        <p:nvSpPr>
          <p:cNvPr id="3" name="Text 1"/>
          <p:cNvSpPr/>
          <p:nvPr/>
        </p:nvSpPr>
        <p:spPr>
          <a:xfrm>
            <a:off x="411480" y="475488"/>
            <a:ext cx="8321040" cy="777240"/>
          </a:xfrm>
          <a:prstGeom prst="rect">
            <a:avLst/>
          </a:prstGeom>
          <a:noFill/>
          <a:ln/>
        </p:spPr>
        <p:txBody>
          <a:bodyPr wrap="square" lIns="0" tIns="0" rIns="0" bIns="0"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Why build this at all?</a:t>
            </a:r>
            <a:endParaRPr lang="en-US" sz="2000" dirty="0"/>
          </a:p>
        </p:txBody>
      </p:sp>
      <p:sp>
        <p:nvSpPr>
          <p:cNvPr id="4" name="Shape 2"/>
          <p:cNvSpPr/>
          <p:nvPr/>
        </p:nvSpPr>
        <p:spPr>
          <a:xfrm>
            <a:off x="411480" y="1234440"/>
            <a:ext cx="8321040" cy="932688"/>
          </a:xfrm>
          <a:prstGeom prst="rect">
            <a:avLst/>
          </a:prstGeom>
          <a:solidFill>
            <a:srgbClr val="162E45"/>
          </a:solidFill>
          <a:ln w="12700">
            <a:solidFill>
              <a:srgbClr val="162E45"/>
            </a:solidFill>
            <a:prstDash val="solid"/>
          </a:ln>
        </p:spPr>
        <p:txBody>
          <a:bodyPr/>
          <a:lstStyle/>
          <a:p>
            <a:endParaRPr lang="en-US"/>
          </a:p>
        </p:txBody>
      </p:sp>
      <p:sp>
        <p:nvSpPr>
          <p:cNvPr id="5" name="Shape 3"/>
          <p:cNvSpPr/>
          <p:nvPr/>
        </p:nvSpPr>
        <p:spPr>
          <a:xfrm>
            <a:off x="411480" y="1234440"/>
            <a:ext cx="73152" cy="932688"/>
          </a:xfrm>
          <a:prstGeom prst="rect">
            <a:avLst/>
          </a:prstGeom>
          <a:solidFill>
            <a:srgbClr val="C5A030"/>
          </a:solidFill>
          <a:ln w="12700">
            <a:solidFill>
              <a:srgbClr val="C5A030"/>
            </a:solidFill>
            <a:prstDash val="solid"/>
          </a:ln>
        </p:spPr>
        <p:txBody>
          <a:bodyPr/>
          <a:lstStyle/>
          <a:p>
            <a:endParaRPr lang="en-US"/>
          </a:p>
        </p:txBody>
      </p:sp>
      <p:sp>
        <p:nvSpPr>
          <p:cNvPr id="6" name="Text 4"/>
          <p:cNvSpPr/>
          <p:nvPr/>
        </p:nvSpPr>
        <p:spPr>
          <a:xfrm>
            <a:off x="594360" y="1298448"/>
            <a:ext cx="7955280" cy="786384"/>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"AI out of the box is optimized for the average user. Average is the floor, not the ceiling. The goal was to find out how far the ceiling actually goes."</a:t>
            </a:r>
            <a:endParaRPr lang="en-US" sz="1400" dirty="0"/>
          </a:p>
        </p:txBody>
      </p:sp>
      <p:sp>
        <p:nvSpPr>
          <p:cNvPr id="7" name="Shape 5"/>
          <p:cNvSpPr/>
          <p:nvPr/>
        </p:nvSpPr>
        <p:spPr>
          <a:xfrm>
            <a:off x="411480" y="2359152"/>
            <a:ext cx="4114800" cy="1170432"/>
          </a:xfrm>
          <a:prstGeom prst="rect">
            <a:avLst/>
          </a:prstGeom>
          <a:solidFill>
            <a:srgbClr val="1A3A5C"/>
          </a:solidFill>
          <a:ln w="12700">
            <a:solidFill>
              <a:srgbClr val="1A3A5C"/>
            </a:solidFill>
            <a:prstDash val="solid"/>
          </a:ln>
        </p:spPr>
        <p:txBody>
          <a:bodyPr/>
          <a:lstStyle/>
          <a:p>
            <a:endParaRPr lang="en-US"/>
          </a:p>
        </p:txBody>
      </p:sp>
      <p:sp>
        <p:nvSpPr>
          <p:cNvPr id="8" name="Shape 6"/>
          <p:cNvSpPr/>
          <p:nvPr/>
        </p:nvSpPr>
        <p:spPr>
          <a:xfrm>
            <a:off x="411480" y="2359152"/>
            <a:ext cx="64008" cy="1170432"/>
          </a:xfrm>
          <a:prstGeom prst="rect">
            <a:avLst/>
          </a:prstGeom>
          <a:solidFill>
            <a:srgbClr val="C5A030"/>
          </a:solidFill>
          <a:ln w="12700">
            <a:solidFill>
              <a:srgbClr val="C5A030"/>
            </a:solidFill>
            <a:prstDash val="solid"/>
          </a:ln>
        </p:spPr>
        <p:txBody>
          <a:bodyPr/>
          <a:lstStyle/>
          <a:p>
            <a:endParaRPr lang="en-US"/>
          </a:p>
        </p:txBody>
      </p:sp>
      <p:sp>
        <p:nvSpPr>
          <p:cNvPr id="9" name="Shape 7"/>
          <p:cNvSpPr/>
          <p:nvPr/>
        </p:nvSpPr>
        <p:spPr>
          <a:xfrm>
            <a:off x="576072" y="2651760"/>
            <a:ext cx="502920" cy="502920"/>
          </a:xfrm>
          <a:prstGeom prst="ellipse">
            <a:avLst/>
          </a:prstGeom>
          <a:solidFill>
            <a:srgbClr val="1E3A5F"/>
          </a:solidFill>
          <a:ln w="12700">
            <a:solidFill>
              <a:srgbClr val="1E3A5F"/>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667512" y="2724912"/>
            <a:ext cx="320040" cy="320040"/>
          </a:xfrm>
          <a:prstGeom prst="rect">
            <a:avLst/>
          </a:prstGeom>
        </p:spPr>
      </p:pic>
      <p:sp>
        <p:nvSpPr>
          <p:cNvPr id="11" name="Text 8"/>
          <p:cNvSpPr/>
          <p:nvPr/>
        </p:nvSpPr>
        <p:spPr>
          <a:xfrm>
            <a:off x="1216152" y="2450592"/>
            <a:ext cx="3182112"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Productivity has a compounding problem</a:t>
            </a:r>
            <a:endParaRPr lang="en-US" sz="1400" dirty="0"/>
          </a:p>
        </p:txBody>
      </p:sp>
      <p:sp>
        <p:nvSpPr>
          <p:cNvPr id="12" name="Text 9"/>
          <p:cNvSpPr/>
          <p:nvPr/>
        </p:nvSpPr>
        <p:spPr>
          <a:xfrm>
            <a:off x="1216152" y="2761488"/>
            <a:ext cx="3182112" cy="65836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A 15% efficiency gain from a well-configured Claude compounds differently than a 3% gain from a default one. The configuration IS the investment.</a:t>
            </a:r>
            <a:endParaRPr lang="en-US" sz="1400" dirty="0"/>
          </a:p>
        </p:txBody>
      </p:sp>
      <p:sp>
        <p:nvSpPr>
          <p:cNvPr id="13" name="Shape 10"/>
          <p:cNvSpPr/>
          <p:nvPr/>
        </p:nvSpPr>
        <p:spPr>
          <a:xfrm>
            <a:off x="4709160" y="2359152"/>
            <a:ext cx="4114800" cy="1170432"/>
          </a:xfrm>
          <a:prstGeom prst="rect">
            <a:avLst/>
          </a:prstGeom>
          <a:solidFill>
            <a:srgbClr val="1A3A5C"/>
          </a:solidFill>
          <a:ln w="12700">
            <a:solidFill>
              <a:srgbClr val="1A3A5C"/>
            </a:solidFill>
            <a:prstDash val="solid"/>
          </a:ln>
        </p:spPr>
        <p:txBody>
          <a:bodyPr/>
          <a:lstStyle/>
          <a:p>
            <a:endParaRPr lang="en-US"/>
          </a:p>
        </p:txBody>
      </p:sp>
      <p:sp>
        <p:nvSpPr>
          <p:cNvPr id="14" name="Shape 11"/>
          <p:cNvSpPr/>
          <p:nvPr/>
        </p:nvSpPr>
        <p:spPr>
          <a:xfrm>
            <a:off x="4709160" y="2359152"/>
            <a:ext cx="64008" cy="1170432"/>
          </a:xfrm>
          <a:prstGeom prst="rect">
            <a:avLst/>
          </a:prstGeom>
          <a:solidFill>
            <a:srgbClr val="C5A030"/>
          </a:solidFill>
          <a:ln w="12700">
            <a:solidFill>
              <a:srgbClr val="C5A030"/>
            </a:solidFill>
            <a:prstDash val="solid"/>
          </a:ln>
        </p:spPr>
        <p:txBody>
          <a:bodyPr/>
          <a:lstStyle/>
          <a:p>
            <a:endParaRPr lang="en-US"/>
          </a:p>
        </p:txBody>
      </p:sp>
      <p:sp>
        <p:nvSpPr>
          <p:cNvPr id="15" name="Shape 12"/>
          <p:cNvSpPr/>
          <p:nvPr/>
        </p:nvSpPr>
        <p:spPr>
          <a:xfrm>
            <a:off x="4873752" y="2651760"/>
            <a:ext cx="502920" cy="502920"/>
          </a:xfrm>
          <a:prstGeom prst="ellipse">
            <a:avLst/>
          </a:prstGeom>
          <a:solidFill>
            <a:srgbClr val="1E3A5F"/>
          </a:solidFill>
          <a:ln w="12700">
            <a:solidFill>
              <a:srgbClr val="1E3A5F"/>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965192" y="2724912"/>
            <a:ext cx="320040" cy="320040"/>
          </a:xfrm>
          <a:prstGeom prst="rect">
            <a:avLst/>
          </a:prstGeom>
        </p:spPr>
      </p:pic>
      <p:sp>
        <p:nvSpPr>
          <p:cNvPr id="17" name="Text 13"/>
          <p:cNvSpPr/>
          <p:nvPr/>
        </p:nvSpPr>
        <p:spPr>
          <a:xfrm>
            <a:off x="5513832" y="2450592"/>
            <a:ext cx="3182112"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Institutional risk is real</a:t>
            </a:r>
            <a:endParaRPr lang="en-US" sz="1400" dirty="0"/>
          </a:p>
        </p:txBody>
      </p:sp>
      <p:sp>
        <p:nvSpPr>
          <p:cNvPr id="18" name="Text 14"/>
          <p:cNvSpPr/>
          <p:nvPr/>
        </p:nvSpPr>
        <p:spPr>
          <a:xfrm>
            <a:off x="5513832" y="2761488"/>
            <a:ext cx="3182112" cy="65836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Depending on one AI vendor with no documented understanding of how it works is a governance gap. CLAIRE makes the configuration layer explicit.</a:t>
            </a:r>
            <a:endParaRPr lang="en-US" sz="1400" dirty="0"/>
          </a:p>
        </p:txBody>
      </p:sp>
      <p:sp>
        <p:nvSpPr>
          <p:cNvPr id="19" name="Shape 15"/>
          <p:cNvSpPr/>
          <p:nvPr/>
        </p:nvSpPr>
        <p:spPr>
          <a:xfrm>
            <a:off x="411480" y="3657600"/>
            <a:ext cx="4114800" cy="1170432"/>
          </a:xfrm>
          <a:prstGeom prst="rect">
            <a:avLst/>
          </a:prstGeom>
          <a:solidFill>
            <a:srgbClr val="1A3A5C"/>
          </a:solidFill>
          <a:ln w="12700">
            <a:solidFill>
              <a:srgbClr val="1A3A5C"/>
            </a:solidFill>
            <a:prstDash val="solid"/>
          </a:ln>
        </p:spPr>
        <p:txBody>
          <a:bodyPr/>
          <a:lstStyle/>
          <a:p>
            <a:endParaRPr lang="en-US"/>
          </a:p>
        </p:txBody>
      </p:sp>
      <p:sp>
        <p:nvSpPr>
          <p:cNvPr id="20" name="Shape 16"/>
          <p:cNvSpPr/>
          <p:nvPr/>
        </p:nvSpPr>
        <p:spPr>
          <a:xfrm>
            <a:off x="411480" y="3657600"/>
            <a:ext cx="64008" cy="1170432"/>
          </a:xfrm>
          <a:prstGeom prst="rect">
            <a:avLst/>
          </a:prstGeom>
          <a:solidFill>
            <a:srgbClr val="C5A030"/>
          </a:solidFill>
          <a:ln w="12700">
            <a:solidFill>
              <a:srgbClr val="C5A030"/>
            </a:solidFill>
            <a:prstDash val="solid"/>
          </a:ln>
        </p:spPr>
        <p:txBody>
          <a:bodyPr/>
          <a:lstStyle/>
          <a:p>
            <a:endParaRPr lang="en-US"/>
          </a:p>
        </p:txBody>
      </p:sp>
      <p:sp>
        <p:nvSpPr>
          <p:cNvPr id="21" name="Shape 17"/>
          <p:cNvSpPr/>
          <p:nvPr/>
        </p:nvSpPr>
        <p:spPr>
          <a:xfrm>
            <a:off x="576072" y="3950208"/>
            <a:ext cx="502920" cy="502920"/>
          </a:xfrm>
          <a:prstGeom prst="ellipse">
            <a:avLst/>
          </a:prstGeom>
          <a:solidFill>
            <a:srgbClr val="1E3A5F"/>
          </a:solidFill>
          <a:ln w="12700">
            <a:solidFill>
              <a:srgbClr val="1E3A5F"/>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667512" y="4023360"/>
            <a:ext cx="320040" cy="320040"/>
          </a:xfrm>
          <a:prstGeom prst="rect">
            <a:avLst/>
          </a:prstGeom>
        </p:spPr>
      </p:pic>
      <p:sp>
        <p:nvSpPr>
          <p:cNvPr id="23" name="Text 18"/>
          <p:cNvSpPr/>
          <p:nvPr/>
        </p:nvSpPr>
        <p:spPr>
          <a:xfrm>
            <a:off x="1216152" y="3749040"/>
            <a:ext cx="3182112"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Learning from others at scale</a:t>
            </a:r>
            <a:endParaRPr lang="en-US" sz="1400" dirty="0"/>
          </a:p>
        </p:txBody>
      </p:sp>
      <p:sp>
        <p:nvSpPr>
          <p:cNvPr id="24" name="Text 19"/>
          <p:cNvSpPr/>
          <p:nvPr/>
        </p:nvSpPr>
        <p:spPr>
          <a:xfrm>
            <a:off x="1216152" y="4059936"/>
            <a:ext cx="3182112" cy="65836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Thousands of people publish what's working and not working with Claude every week. CLAIRE reads them so you don't have to.</a:t>
            </a:r>
            <a:endParaRPr lang="en-US" sz="1400" dirty="0"/>
          </a:p>
        </p:txBody>
      </p:sp>
      <p:sp>
        <p:nvSpPr>
          <p:cNvPr id="25" name="Shape 20"/>
          <p:cNvSpPr/>
          <p:nvPr/>
        </p:nvSpPr>
        <p:spPr>
          <a:xfrm>
            <a:off x="4709160" y="3657600"/>
            <a:ext cx="4114800" cy="1170432"/>
          </a:xfrm>
          <a:prstGeom prst="rect">
            <a:avLst/>
          </a:prstGeom>
          <a:solidFill>
            <a:srgbClr val="1A3A5C"/>
          </a:solidFill>
          <a:ln w="12700">
            <a:solidFill>
              <a:srgbClr val="1A3A5C"/>
            </a:solidFill>
            <a:prstDash val="solid"/>
          </a:ln>
        </p:spPr>
        <p:txBody>
          <a:bodyPr/>
          <a:lstStyle/>
          <a:p>
            <a:endParaRPr lang="en-US"/>
          </a:p>
        </p:txBody>
      </p:sp>
      <p:sp>
        <p:nvSpPr>
          <p:cNvPr id="26" name="Shape 21"/>
          <p:cNvSpPr/>
          <p:nvPr/>
        </p:nvSpPr>
        <p:spPr>
          <a:xfrm>
            <a:off x="4709160" y="3657600"/>
            <a:ext cx="64008" cy="1170432"/>
          </a:xfrm>
          <a:prstGeom prst="rect">
            <a:avLst/>
          </a:prstGeom>
          <a:solidFill>
            <a:srgbClr val="C5A030"/>
          </a:solidFill>
          <a:ln w="12700">
            <a:solidFill>
              <a:srgbClr val="C5A030"/>
            </a:solidFill>
            <a:prstDash val="solid"/>
          </a:ln>
        </p:spPr>
        <p:txBody>
          <a:bodyPr/>
          <a:lstStyle/>
          <a:p>
            <a:endParaRPr lang="en-US"/>
          </a:p>
        </p:txBody>
      </p:sp>
      <p:sp>
        <p:nvSpPr>
          <p:cNvPr id="27" name="Shape 22"/>
          <p:cNvSpPr/>
          <p:nvPr/>
        </p:nvSpPr>
        <p:spPr>
          <a:xfrm>
            <a:off x="4873752" y="3950208"/>
            <a:ext cx="502920" cy="502920"/>
          </a:xfrm>
          <a:prstGeom prst="ellipse">
            <a:avLst/>
          </a:prstGeom>
          <a:solidFill>
            <a:srgbClr val="1E3A5F"/>
          </a:solidFill>
          <a:ln w="12700">
            <a:solidFill>
              <a:srgbClr val="1E3A5F"/>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4965192" y="4023360"/>
            <a:ext cx="320040" cy="320040"/>
          </a:xfrm>
          <a:prstGeom prst="rect">
            <a:avLst/>
          </a:prstGeom>
        </p:spPr>
      </p:pic>
      <p:sp>
        <p:nvSpPr>
          <p:cNvPr id="29" name="Text 23"/>
          <p:cNvSpPr/>
          <p:nvPr/>
        </p:nvSpPr>
        <p:spPr>
          <a:xfrm>
            <a:off x="5513832" y="3749040"/>
            <a:ext cx="3182112"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Human judgment, AI leverage</a:t>
            </a:r>
            <a:endParaRPr lang="en-US" sz="1400" dirty="0"/>
          </a:p>
        </p:txBody>
      </p:sp>
      <p:sp>
        <p:nvSpPr>
          <p:cNvPr id="30" name="Text 24"/>
          <p:cNvSpPr/>
          <p:nvPr/>
        </p:nvSpPr>
        <p:spPr>
          <a:xfrm>
            <a:off x="5513832" y="4059936"/>
            <a:ext cx="3182112" cy="658368"/>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The system surfaces candidates. Humans make decisions. This is the only safe way to run configuration drift — with a paper trail and a veto.</a:t>
            </a:r>
            <a:endParaRPr lang="en-US" sz="1400" dirty="0"/>
          </a:p>
        </p:txBody>
      </p:sp>
    </p:spTree>
    <p:extLst>
      <p:ext uri="{BB962C8B-B14F-4D97-AF65-F5344CB8AC3E}">
        <p14:creationId xmlns:p14="http://schemas.microsoft.com/office/powerpoint/2010/main" val="3928377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PIPELINE</a:t>
            </a:r>
            <a:endParaRPr lang="en-US" sz="800" dirty="0"/>
          </a:p>
        </p:txBody>
      </p:sp>
      <p:sp>
        <p:nvSpPr>
          <p:cNvPr id="3" name="Text 1"/>
          <p:cNvSpPr/>
          <p:nvPr/>
        </p:nvSpPr>
        <p:spPr>
          <a:xfrm>
            <a:off x="411480" y="475488"/>
            <a:ext cx="8321040" cy="566928"/>
          </a:xfrm>
          <a:prstGeom prst="rect">
            <a:avLst/>
          </a:prstGeom>
          <a:noFill/>
          <a:ln/>
        </p:spPr>
        <p:txBody>
          <a:bodyPr wrap="square" lIns="0" tIns="0" rIns="0" bIns="0" rtlCol="0" anchor="ctr"/>
          <a:lstStyle/>
          <a:p>
            <a:pPr marL="0" indent="0">
              <a:buNone/>
            </a:pPr>
            <a:r>
              <a:rPr lang="en-US" sz="2000" b="1" dirty="0">
                <a:solidFill>
                  <a:srgbClr val="1E3A5F"/>
                </a:solidFill>
                <a:latin typeface="Georgia" pitchFamily="34" charset="0"/>
                <a:ea typeface="Georgia" pitchFamily="34" charset="-122"/>
                <a:cs typeface="Georgia" pitchFamily="34" charset="-120"/>
              </a:rPr>
              <a:t>Five stages. One loop. Runs weekly.</a:t>
            </a:r>
            <a:endParaRPr lang="en-US" sz="2000" dirty="0"/>
          </a:p>
        </p:txBody>
      </p:sp>
      <p:sp>
        <p:nvSpPr>
          <p:cNvPr id="4" name="Shape 2"/>
          <p:cNvSpPr/>
          <p:nvPr/>
        </p:nvSpPr>
        <p:spPr>
          <a:xfrm>
            <a:off x="274320" y="1353312"/>
            <a:ext cx="1508760" cy="2121408"/>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621792" y="1490472"/>
            <a:ext cx="822960" cy="822960"/>
          </a:xfrm>
          <a:prstGeom prst="ellipse">
            <a:avLst/>
          </a:prstGeom>
          <a:solidFill>
            <a:srgbClr val="162E45"/>
          </a:solidFill>
          <a:ln w="12700">
            <a:solidFill>
              <a:srgbClr val="162E4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49808" y="1600200"/>
            <a:ext cx="566928" cy="566928"/>
          </a:xfrm>
          <a:prstGeom prst="rect">
            <a:avLst/>
          </a:prstGeom>
        </p:spPr>
      </p:pic>
      <p:sp>
        <p:nvSpPr>
          <p:cNvPr id="7" name="Text 4"/>
          <p:cNvSpPr/>
          <p:nvPr/>
        </p:nvSpPr>
        <p:spPr>
          <a:xfrm>
            <a:off x="320040" y="2432304"/>
            <a:ext cx="1417320" cy="27432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INGEST</a:t>
            </a:r>
            <a:endParaRPr lang="en-US" sz="1400" dirty="0"/>
          </a:p>
        </p:txBody>
      </p:sp>
      <p:sp>
        <p:nvSpPr>
          <p:cNvPr id="8" name="Text 5"/>
          <p:cNvSpPr/>
          <p:nvPr/>
        </p:nvSpPr>
        <p:spPr>
          <a:xfrm>
            <a:off x="320040" y="2743200"/>
            <a:ext cx="1417320" cy="62179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Reddit · HN · dev.to</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520 posts/week</a:t>
            </a:r>
            <a:endParaRPr lang="en-US" sz="1400" dirty="0"/>
          </a:p>
        </p:txBody>
      </p:sp>
      <p:sp>
        <p:nvSpPr>
          <p:cNvPr id="9" name="Shape 6"/>
          <p:cNvSpPr/>
          <p:nvPr/>
        </p:nvSpPr>
        <p:spPr>
          <a:xfrm>
            <a:off x="1783080" y="2395728"/>
            <a:ext cx="228600" cy="0"/>
          </a:xfrm>
          <a:prstGeom prst="line">
            <a:avLst/>
          </a:prstGeom>
          <a:noFill/>
          <a:ln w="25400">
            <a:solidFill>
              <a:srgbClr val="C5A030"/>
            </a:solidFill>
            <a:prstDash val="solid"/>
          </a:ln>
        </p:spPr>
        <p:txBody>
          <a:bodyPr/>
          <a:lstStyle/>
          <a:p>
            <a:endParaRPr lang="en-US"/>
          </a:p>
        </p:txBody>
      </p:sp>
      <p:sp>
        <p:nvSpPr>
          <p:cNvPr id="10" name="Shape 7"/>
          <p:cNvSpPr/>
          <p:nvPr/>
        </p:nvSpPr>
        <p:spPr>
          <a:xfrm>
            <a:off x="2011680" y="1353312"/>
            <a:ext cx="1508760" cy="2121408"/>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2359152" y="1490472"/>
            <a:ext cx="822960" cy="822960"/>
          </a:xfrm>
          <a:prstGeom prst="ellipse">
            <a:avLst/>
          </a:prstGeom>
          <a:solidFill>
            <a:srgbClr val="162E45"/>
          </a:solidFill>
          <a:ln w="12700">
            <a:solidFill>
              <a:srgbClr val="162E45"/>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487168" y="1600200"/>
            <a:ext cx="566928" cy="566928"/>
          </a:xfrm>
          <a:prstGeom prst="rect">
            <a:avLst/>
          </a:prstGeom>
        </p:spPr>
      </p:pic>
      <p:sp>
        <p:nvSpPr>
          <p:cNvPr id="13" name="Text 9"/>
          <p:cNvSpPr/>
          <p:nvPr/>
        </p:nvSpPr>
        <p:spPr>
          <a:xfrm>
            <a:off x="2057400" y="2432304"/>
            <a:ext cx="1417320" cy="27432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TRIAGE</a:t>
            </a:r>
            <a:endParaRPr lang="en-US" sz="1400" dirty="0"/>
          </a:p>
        </p:txBody>
      </p:sp>
      <p:sp>
        <p:nvSpPr>
          <p:cNvPr id="14" name="Text 10"/>
          <p:cNvSpPr/>
          <p:nvPr/>
        </p:nvSpPr>
        <p:spPr>
          <a:xfrm>
            <a:off x="2057400" y="2743200"/>
            <a:ext cx="1417320" cy="62179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AI scores relevance</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Drops noise at scale</a:t>
            </a:r>
            <a:endParaRPr lang="en-US" sz="1400" dirty="0"/>
          </a:p>
        </p:txBody>
      </p:sp>
      <p:sp>
        <p:nvSpPr>
          <p:cNvPr id="15" name="Shape 11"/>
          <p:cNvSpPr/>
          <p:nvPr/>
        </p:nvSpPr>
        <p:spPr>
          <a:xfrm>
            <a:off x="3520440" y="2395728"/>
            <a:ext cx="228600" cy="0"/>
          </a:xfrm>
          <a:prstGeom prst="line">
            <a:avLst/>
          </a:prstGeom>
          <a:noFill/>
          <a:ln w="25400">
            <a:solidFill>
              <a:srgbClr val="C5A030"/>
            </a:solidFill>
            <a:prstDash val="solid"/>
          </a:ln>
        </p:spPr>
        <p:txBody>
          <a:bodyPr/>
          <a:lstStyle/>
          <a:p>
            <a:endParaRPr lang="en-US"/>
          </a:p>
        </p:txBody>
      </p:sp>
      <p:sp>
        <p:nvSpPr>
          <p:cNvPr id="16" name="Shape 12"/>
          <p:cNvSpPr/>
          <p:nvPr/>
        </p:nvSpPr>
        <p:spPr>
          <a:xfrm>
            <a:off x="3749040" y="1353312"/>
            <a:ext cx="1508760" cy="2121408"/>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3"/>
          <p:cNvSpPr/>
          <p:nvPr/>
        </p:nvSpPr>
        <p:spPr>
          <a:xfrm>
            <a:off x="4096512" y="1490472"/>
            <a:ext cx="822960" cy="822960"/>
          </a:xfrm>
          <a:prstGeom prst="ellipse">
            <a:avLst/>
          </a:prstGeom>
          <a:solidFill>
            <a:srgbClr val="162E45"/>
          </a:solidFill>
          <a:ln w="12700">
            <a:solidFill>
              <a:srgbClr val="162E45"/>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4224528" y="1600200"/>
            <a:ext cx="566928" cy="566928"/>
          </a:xfrm>
          <a:prstGeom prst="rect">
            <a:avLst/>
          </a:prstGeom>
        </p:spPr>
      </p:pic>
      <p:sp>
        <p:nvSpPr>
          <p:cNvPr id="19" name="Text 14"/>
          <p:cNvSpPr/>
          <p:nvPr/>
        </p:nvSpPr>
        <p:spPr>
          <a:xfrm>
            <a:off x="3794760" y="2432304"/>
            <a:ext cx="1417320" cy="27432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SYNTHESIZE</a:t>
            </a:r>
            <a:endParaRPr lang="en-US" sz="1400" dirty="0"/>
          </a:p>
        </p:txBody>
      </p:sp>
      <p:sp>
        <p:nvSpPr>
          <p:cNvPr id="20" name="Text 15"/>
          <p:cNvSpPr/>
          <p:nvPr/>
        </p:nvSpPr>
        <p:spPr>
          <a:xfrm>
            <a:off x="3794760" y="2743200"/>
            <a:ext cx="1417320" cy="62179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3 tracks: config edits,</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behavior watch, archive</a:t>
            </a:r>
            <a:endParaRPr lang="en-US" sz="1400" dirty="0"/>
          </a:p>
        </p:txBody>
      </p:sp>
      <p:sp>
        <p:nvSpPr>
          <p:cNvPr id="21" name="Shape 16"/>
          <p:cNvSpPr/>
          <p:nvPr/>
        </p:nvSpPr>
        <p:spPr>
          <a:xfrm>
            <a:off x="5257800" y="2395728"/>
            <a:ext cx="228600" cy="0"/>
          </a:xfrm>
          <a:prstGeom prst="line">
            <a:avLst/>
          </a:prstGeom>
          <a:noFill/>
          <a:ln w="25400">
            <a:solidFill>
              <a:srgbClr val="C5A030"/>
            </a:solidFill>
            <a:prstDash val="solid"/>
          </a:ln>
        </p:spPr>
        <p:txBody>
          <a:bodyPr/>
          <a:lstStyle/>
          <a:p>
            <a:endParaRPr lang="en-US"/>
          </a:p>
        </p:txBody>
      </p:sp>
      <p:sp>
        <p:nvSpPr>
          <p:cNvPr id="22" name="Shape 17"/>
          <p:cNvSpPr/>
          <p:nvPr/>
        </p:nvSpPr>
        <p:spPr>
          <a:xfrm>
            <a:off x="5486400" y="1353312"/>
            <a:ext cx="1508760" cy="2121408"/>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18"/>
          <p:cNvSpPr/>
          <p:nvPr/>
        </p:nvSpPr>
        <p:spPr>
          <a:xfrm>
            <a:off x="5833872" y="1490472"/>
            <a:ext cx="822960" cy="822960"/>
          </a:xfrm>
          <a:prstGeom prst="ellipse">
            <a:avLst/>
          </a:prstGeom>
          <a:solidFill>
            <a:srgbClr val="162E45"/>
          </a:solidFill>
          <a:ln w="12700">
            <a:solidFill>
              <a:srgbClr val="162E4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5961888" y="1600200"/>
            <a:ext cx="566928" cy="566928"/>
          </a:xfrm>
          <a:prstGeom prst="rect">
            <a:avLst/>
          </a:prstGeom>
        </p:spPr>
      </p:pic>
      <p:sp>
        <p:nvSpPr>
          <p:cNvPr id="25" name="Text 19"/>
          <p:cNvSpPr/>
          <p:nvPr/>
        </p:nvSpPr>
        <p:spPr>
          <a:xfrm>
            <a:off x="5532120" y="2432304"/>
            <a:ext cx="1417320" cy="274320"/>
          </a:xfrm>
          <a:prstGeom prst="rect">
            <a:avLst/>
          </a:prstGeom>
          <a:noFill/>
          <a:ln/>
        </p:spPr>
        <p:txBody>
          <a:bodyPr wrap="square" lIns="0" tIns="0" rIns="0" bIns="0" rtlCol="0" anchor="ctr"/>
          <a:lstStyle/>
          <a:p>
            <a:pPr marL="0" indent="0" algn="ctr">
              <a:buNone/>
            </a:pPr>
            <a:r>
              <a:rPr lang="en-US" sz="1400" b="1" kern="0" spc="100" dirty="0">
                <a:solidFill>
                  <a:srgbClr val="FFFFFF"/>
                </a:solidFill>
                <a:latin typeface="Calibri" pitchFamily="34" charset="0"/>
                <a:ea typeface="Calibri" pitchFamily="34" charset="-122"/>
                <a:cs typeface="Calibri" pitchFamily="34" charset="-120"/>
              </a:rPr>
              <a:t>DIGEST</a:t>
            </a:r>
            <a:endParaRPr lang="en-US" sz="1400" dirty="0"/>
          </a:p>
        </p:txBody>
      </p:sp>
      <p:sp>
        <p:nvSpPr>
          <p:cNvPr id="26" name="Text 20"/>
          <p:cNvSpPr/>
          <p:nvPr/>
        </p:nvSpPr>
        <p:spPr>
          <a:xfrm>
            <a:off x="5532120" y="2743200"/>
            <a:ext cx="1417320" cy="62179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Weekly .docx report</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Human-readable candidates</a:t>
            </a:r>
            <a:endParaRPr lang="en-US" sz="1400" dirty="0"/>
          </a:p>
        </p:txBody>
      </p:sp>
      <p:sp>
        <p:nvSpPr>
          <p:cNvPr id="27" name="Shape 21"/>
          <p:cNvSpPr/>
          <p:nvPr/>
        </p:nvSpPr>
        <p:spPr>
          <a:xfrm>
            <a:off x="6995160" y="2395728"/>
            <a:ext cx="228600" cy="0"/>
          </a:xfrm>
          <a:prstGeom prst="line">
            <a:avLst/>
          </a:prstGeom>
          <a:noFill/>
          <a:ln w="25400">
            <a:solidFill>
              <a:srgbClr val="C5A030"/>
            </a:solidFill>
            <a:prstDash val="solid"/>
          </a:ln>
        </p:spPr>
        <p:txBody>
          <a:bodyPr/>
          <a:lstStyle/>
          <a:p>
            <a:endParaRPr lang="en-US"/>
          </a:p>
        </p:txBody>
      </p:sp>
      <p:sp>
        <p:nvSpPr>
          <p:cNvPr id="28" name="Shape 22"/>
          <p:cNvSpPr/>
          <p:nvPr/>
        </p:nvSpPr>
        <p:spPr>
          <a:xfrm>
            <a:off x="7223760" y="1353312"/>
            <a:ext cx="1508760" cy="2121408"/>
          </a:xfrm>
          <a:prstGeom prst="rect">
            <a:avLst/>
          </a:prstGeom>
          <a:solidFill>
            <a:srgbClr val="C5A030"/>
          </a:solidFill>
          <a:ln w="12700">
            <a:solidFill>
              <a:srgbClr val="C5A030"/>
            </a:solidFill>
            <a:prstDash val="solid"/>
          </a:ln>
          <a:effectLst>
            <a:outerShdw blurRad="101600" dist="25400" dir="8100000" algn="bl" rotWithShape="0">
              <a:srgbClr val="000000">
                <a:alpha val="12000"/>
              </a:srgbClr>
            </a:outerShdw>
          </a:effectLst>
        </p:spPr>
        <p:txBody>
          <a:bodyPr/>
          <a:lstStyle/>
          <a:p>
            <a:endParaRPr lang="en-US"/>
          </a:p>
        </p:txBody>
      </p:sp>
      <p:sp>
        <p:nvSpPr>
          <p:cNvPr id="29" name="Shape 23"/>
          <p:cNvSpPr/>
          <p:nvPr/>
        </p:nvSpPr>
        <p:spPr>
          <a:xfrm>
            <a:off x="7571232" y="1490472"/>
            <a:ext cx="822960" cy="822960"/>
          </a:xfrm>
          <a:prstGeom prst="ellipse">
            <a:avLst/>
          </a:prstGeom>
          <a:solidFill>
            <a:srgbClr val="A8872A"/>
          </a:solidFill>
          <a:ln w="12700">
            <a:solidFill>
              <a:srgbClr val="A8872A"/>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7699248" y="1600200"/>
            <a:ext cx="566928" cy="566928"/>
          </a:xfrm>
          <a:prstGeom prst="rect">
            <a:avLst/>
          </a:prstGeom>
        </p:spPr>
      </p:pic>
      <p:sp>
        <p:nvSpPr>
          <p:cNvPr id="31" name="Text 24"/>
          <p:cNvSpPr/>
          <p:nvPr/>
        </p:nvSpPr>
        <p:spPr>
          <a:xfrm>
            <a:off x="7269480" y="2432304"/>
            <a:ext cx="1417320" cy="274320"/>
          </a:xfrm>
          <a:prstGeom prst="rect">
            <a:avLst/>
          </a:prstGeom>
          <a:noFill/>
          <a:ln/>
        </p:spPr>
        <p:txBody>
          <a:bodyPr wrap="square" lIns="0" tIns="0" rIns="0" bIns="0" rtlCol="0" anchor="ctr"/>
          <a:lstStyle/>
          <a:p>
            <a:pPr marL="0" indent="0" algn="ctr">
              <a:buNone/>
            </a:pPr>
            <a:r>
              <a:rPr lang="en-US" sz="1400" b="1" kern="0" spc="100" dirty="0">
                <a:solidFill>
                  <a:srgbClr val="0F2036"/>
                </a:solidFill>
                <a:latin typeface="Calibri" pitchFamily="34" charset="0"/>
                <a:ea typeface="Calibri" pitchFamily="34" charset="-122"/>
                <a:cs typeface="Calibri" pitchFamily="34" charset="-120"/>
              </a:rPr>
              <a:t>DECIDE</a:t>
            </a:r>
            <a:endParaRPr lang="en-US" sz="1400" dirty="0"/>
          </a:p>
        </p:txBody>
      </p:sp>
      <p:sp>
        <p:nvSpPr>
          <p:cNvPr id="32" name="Text 25"/>
          <p:cNvSpPr/>
          <p:nvPr/>
        </p:nvSpPr>
        <p:spPr>
          <a:xfrm>
            <a:off x="7269480" y="2743200"/>
            <a:ext cx="1417320" cy="621792"/>
          </a:xfrm>
          <a:prstGeom prst="rect">
            <a:avLst/>
          </a:prstGeom>
          <a:noFill/>
          <a:ln/>
        </p:spPr>
        <p:txBody>
          <a:bodyPr wrap="square" lIns="0" tIns="0" rIns="0" bIns="0" rtlCol="0" anchor="ctr"/>
          <a:lstStyle/>
          <a:p>
            <a:pPr marL="0" indent="0" algn="ctr">
              <a:buNone/>
            </a:pPr>
            <a:r>
              <a:rPr lang="en-US" sz="1400" dirty="0">
                <a:solidFill>
                  <a:srgbClr val="0F2036"/>
                </a:solidFill>
                <a:latin typeface="Calibri" pitchFamily="34" charset="0"/>
                <a:ea typeface="Calibri" pitchFamily="34" charset="-122"/>
                <a:cs typeface="Calibri" pitchFamily="34" charset="-120"/>
              </a:rPr>
              <a:t>Human review</a:t>
            </a:r>
            <a:endParaRPr lang="en-US" sz="1400" dirty="0"/>
          </a:p>
          <a:p>
            <a:pPr marL="0" indent="0" algn="ctr">
              <a:buNone/>
            </a:pPr>
            <a:r>
              <a:rPr lang="en-US" sz="1400" dirty="0">
                <a:solidFill>
                  <a:srgbClr val="0F2036"/>
                </a:solidFill>
                <a:latin typeface="Calibri" pitchFamily="34" charset="0"/>
                <a:ea typeface="Calibri" pitchFamily="34" charset="-122"/>
                <a:cs typeface="Calibri" pitchFamily="34" charset="-120"/>
              </a:rPr>
              <a:t>Hypothesis + apply/defer</a:t>
            </a:r>
            <a:endParaRPr lang="en-US" sz="1400" dirty="0"/>
          </a:p>
        </p:txBody>
      </p:sp>
      <p:sp>
        <p:nvSpPr>
          <p:cNvPr id="33" name="Shape 26"/>
          <p:cNvSpPr/>
          <p:nvPr/>
        </p:nvSpPr>
        <p:spPr>
          <a:xfrm>
            <a:off x="411480" y="3712464"/>
            <a:ext cx="8321040" cy="0"/>
          </a:xfrm>
          <a:prstGeom prst="line">
            <a:avLst/>
          </a:prstGeom>
          <a:noFill/>
          <a:ln w="12700">
            <a:solidFill>
              <a:srgbClr val="C5A030"/>
            </a:solidFill>
            <a:prstDash val="sysDash"/>
          </a:ln>
        </p:spPr>
        <p:txBody>
          <a:bodyPr/>
          <a:lstStyle/>
          <a:p>
            <a:endParaRPr lang="en-US"/>
          </a:p>
        </p:txBody>
      </p:sp>
      <p:sp>
        <p:nvSpPr>
          <p:cNvPr id="34" name="Text 27"/>
          <p:cNvSpPr/>
          <p:nvPr/>
        </p:nvSpPr>
        <p:spPr>
          <a:xfrm>
            <a:off x="411480" y="3785616"/>
            <a:ext cx="8321040" cy="237744"/>
          </a:xfrm>
          <a:prstGeom prst="rect">
            <a:avLst/>
          </a:prstGeom>
          <a:noFill/>
          <a:ln/>
        </p:spPr>
        <p:txBody>
          <a:bodyPr wrap="square" lIns="0" tIns="0" rIns="0" bIns="0" rtlCol="0" anchor="ctr"/>
          <a:lstStyle/>
          <a:p>
            <a:pPr marL="0" indent="0" algn="ctr">
              <a:buNone/>
            </a:pPr>
            <a:r>
              <a:rPr lang="en-US" sz="1400" i="1" dirty="0">
                <a:solidFill>
                  <a:srgbClr val="C5A030"/>
                </a:solidFill>
                <a:latin typeface="Calibri" pitchFamily="34" charset="0"/>
                <a:ea typeface="Calibri" pitchFamily="34" charset="-122"/>
                <a:cs typeface="Calibri" pitchFamily="34" charset="-120"/>
              </a:rPr>
              <a:t>FEEDBACK LOOP — Applied changes generate new sessions → new signal → next week's digest</a:t>
            </a:r>
            <a:endParaRPr lang="en-US" sz="1400" dirty="0"/>
          </a:p>
        </p:txBody>
      </p:sp>
      <p:sp>
        <p:nvSpPr>
          <p:cNvPr id="35" name="Shape 28"/>
          <p:cNvSpPr/>
          <p:nvPr/>
        </p:nvSpPr>
        <p:spPr>
          <a:xfrm>
            <a:off x="1005840" y="4160520"/>
            <a:ext cx="2286000" cy="804672"/>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36" name="Text 29"/>
          <p:cNvSpPr/>
          <p:nvPr/>
        </p:nvSpPr>
        <p:spPr>
          <a:xfrm>
            <a:off x="1005840" y="4206240"/>
            <a:ext cx="2286000" cy="384048"/>
          </a:xfrm>
          <a:prstGeom prst="rect">
            <a:avLst/>
          </a:prstGeom>
          <a:noFill/>
          <a:ln/>
        </p:spPr>
        <p:txBody>
          <a:bodyPr wrap="square" lIns="0" tIns="0" rIns="0" bIns="0" rtlCol="0" anchor="ctr"/>
          <a:lstStyle/>
          <a:p>
            <a:pPr marL="0" indent="0" algn="ctr">
              <a:buNone/>
            </a:pPr>
            <a:r>
              <a:rPr lang="en-US" sz="1400" b="1" dirty="0">
                <a:solidFill>
                  <a:srgbClr val="C5A030"/>
                </a:solidFill>
                <a:latin typeface="Georgia" pitchFamily="34" charset="0"/>
                <a:ea typeface="Georgia" pitchFamily="34" charset="-122"/>
                <a:cs typeface="Georgia" pitchFamily="34" charset="-120"/>
              </a:rPr>
              <a:t>~600</a:t>
            </a:r>
            <a:endParaRPr lang="en-US" sz="1400" dirty="0"/>
          </a:p>
        </p:txBody>
      </p:sp>
      <p:sp>
        <p:nvSpPr>
          <p:cNvPr id="37" name="Text 30"/>
          <p:cNvSpPr/>
          <p:nvPr/>
        </p:nvSpPr>
        <p:spPr>
          <a:xfrm>
            <a:off x="1005840" y="4608576"/>
            <a:ext cx="2286000" cy="237744"/>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lines of Python</a:t>
            </a:r>
            <a:endParaRPr lang="en-US" sz="1400" dirty="0"/>
          </a:p>
        </p:txBody>
      </p:sp>
      <p:sp>
        <p:nvSpPr>
          <p:cNvPr id="38" name="Shape 31"/>
          <p:cNvSpPr/>
          <p:nvPr/>
        </p:nvSpPr>
        <p:spPr>
          <a:xfrm>
            <a:off x="3749040" y="4160520"/>
            <a:ext cx="2286000" cy="804672"/>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39" name="Text 32"/>
          <p:cNvSpPr/>
          <p:nvPr/>
        </p:nvSpPr>
        <p:spPr>
          <a:xfrm>
            <a:off x="3749040" y="4206240"/>
            <a:ext cx="2286000" cy="384048"/>
          </a:xfrm>
          <a:prstGeom prst="rect">
            <a:avLst/>
          </a:prstGeom>
          <a:noFill/>
          <a:ln/>
        </p:spPr>
        <p:txBody>
          <a:bodyPr wrap="square" lIns="0" tIns="0" rIns="0" bIns="0" rtlCol="0" anchor="ctr"/>
          <a:lstStyle/>
          <a:p>
            <a:pPr marL="0" indent="0" algn="ctr">
              <a:buNone/>
            </a:pPr>
            <a:r>
              <a:rPr lang="en-US" sz="1400" b="1" dirty="0">
                <a:solidFill>
                  <a:srgbClr val="C5A030"/>
                </a:solidFill>
                <a:latin typeface="Georgia" pitchFamily="34" charset="0"/>
                <a:ea typeface="Georgia" pitchFamily="34" charset="-122"/>
                <a:cs typeface="Georgia" pitchFamily="34" charset="-120"/>
              </a:rPr>
              <a:t>&lt;2 min</a:t>
            </a:r>
            <a:endParaRPr lang="en-US" sz="1400" dirty="0"/>
          </a:p>
        </p:txBody>
      </p:sp>
      <p:sp>
        <p:nvSpPr>
          <p:cNvPr id="40" name="Text 33"/>
          <p:cNvSpPr/>
          <p:nvPr/>
        </p:nvSpPr>
        <p:spPr>
          <a:xfrm>
            <a:off x="3749040" y="4608576"/>
            <a:ext cx="2286000" cy="237744"/>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runtime per cycle</a:t>
            </a:r>
            <a:endParaRPr lang="en-US" sz="1400" dirty="0"/>
          </a:p>
        </p:txBody>
      </p:sp>
      <p:sp>
        <p:nvSpPr>
          <p:cNvPr id="41" name="Shape 34"/>
          <p:cNvSpPr/>
          <p:nvPr/>
        </p:nvSpPr>
        <p:spPr>
          <a:xfrm>
            <a:off x="6492240" y="4160520"/>
            <a:ext cx="2286000" cy="804672"/>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42" name="Text 35"/>
          <p:cNvSpPr/>
          <p:nvPr/>
        </p:nvSpPr>
        <p:spPr>
          <a:xfrm>
            <a:off x="6492240" y="4206240"/>
            <a:ext cx="2286000" cy="384048"/>
          </a:xfrm>
          <a:prstGeom prst="rect">
            <a:avLst/>
          </a:prstGeom>
          <a:noFill/>
          <a:ln/>
        </p:spPr>
        <p:txBody>
          <a:bodyPr wrap="square" lIns="0" tIns="0" rIns="0" bIns="0" rtlCol="0" anchor="ctr"/>
          <a:lstStyle/>
          <a:p>
            <a:pPr marL="0" indent="0" algn="ctr">
              <a:buNone/>
            </a:pPr>
            <a:r>
              <a:rPr lang="en-US" sz="1400" b="1" dirty="0">
                <a:solidFill>
                  <a:srgbClr val="C5A030"/>
                </a:solidFill>
                <a:latin typeface="Georgia" pitchFamily="34" charset="0"/>
                <a:ea typeface="Georgia" pitchFamily="34" charset="-122"/>
                <a:cs typeface="Georgia" pitchFamily="34" charset="-120"/>
              </a:rPr>
              <a:t>$0.30</a:t>
            </a:r>
            <a:endParaRPr lang="en-US" sz="1400" dirty="0"/>
          </a:p>
        </p:txBody>
      </p:sp>
      <p:sp>
        <p:nvSpPr>
          <p:cNvPr id="43" name="Text 36"/>
          <p:cNvSpPr/>
          <p:nvPr/>
        </p:nvSpPr>
        <p:spPr>
          <a:xfrm>
            <a:off x="6492240" y="4608576"/>
            <a:ext cx="2286000" cy="237744"/>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per weekly run</a:t>
            </a:r>
            <a:endParaRPr lang="en-US" sz="1400" dirty="0"/>
          </a:p>
        </p:txBody>
      </p:sp>
    </p:spTree>
    <p:extLst>
      <p:ext uri="{BB962C8B-B14F-4D97-AF65-F5344CB8AC3E}">
        <p14:creationId xmlns:p14="http://schemas.microsoft.com/office/powerpoint/2010/main" val="2110078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REAL EXAMPLE OUTPUT</a:t>
            </a:r>
            <a:endParaRPr lang="en-US" sz="800" dirty="0"/>
          </a:p>
        </p:txBody>
      </p:sp>
      <p:sp>
        <p:nvSpPr>
          <p:cNvPr id="3" name="Text 1"/>
          <p:cNvSpPr/>
          <p:nvPr/>
        </p:nvSpPr>
        <p:spPr>
          <a:xfrm>
            <a:off x="411480" y="475488"/>
            <a:ext cx="8321040" cy="566928"/>
          </a:xfrm>
          <a:prstGeom prst="rect">
            <a:avLst/>
          </a:prstGeom>
          <a:noFill/>
          <a:ln/>
        </p:spPr>
        <p:txBody>
          <a:bodyPr wrap="square" lIns="0" tIns="0" rIns="0" bIns="0" rtlCol="0" anchor="ctr"/>
          <a:lstStyle/>
          <a:p>
            <a:pPr marL="0" indent="0">
              <a:buNone/>
            </a:pPr>
            <a:r>
              <a:rPr lang="en-US" sz="2000" b="1" dirty="0">
                <a:solidFill>
                  <a:srgbClr val="1E3A5F"/>
                </a:solidFill>
                <a:latin typeface="Georgia" pitchFamily="34" charset="0"/>
                <a:ea typeface="Georgia" pitchFamily="34" charset="-122"/>
                <a:cs typeface="Georgia" pitchFamily="34" charset="-120"/>
              </a:rPr>
              <a:t>What the system actually produces.</a:t>
            </a:r>
            <a:endParaRPr lang="en-US" sz="2000" dirty="0"/>
          </a:p>
        </p:txBody>
      </p:sp>
      <p:sp>
        <p:nvSpPr>
          <p:cNvPr id="4" name="Shape 2"/>
          <p:cNvSpPr/>
          <p:nvPr/>
        </p:nvSpPr>
        <p:spPr>
          <a:xfrm>
            <a:off x="411480" y="1188720"/>
            <a:ext cx="8321040" cy="32004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411480" y="1188720"/>
            <a:ext cx="8321040" cy="384048"/>
          </a:xfrm>
          <a:prstGeom prst="rect">
            <a:avLst/>
          </a:prstGeom>
          <a:solidFill>
            <a:srgbClr val="1E3A5F"/>
          </a:solidFill>
          <a:ln w="12700">
            <a:solidFill>
              <a:srgbClr val="1E3A5F"/>
            </a:solidFill>
            <a:prstDash val="solid"/>
          </a:ln>
        </p:spPr>
        <p:txBody>
          <a:bodyPr/>
          <a:lstStyle/>
          <a:p>
            <a:endParaRPr lang="en-US"/>
          </a:p>
        </p:txBody>
      </p:sp>
      <p:sp>
        <p:nvSpPr>
          <p:cNvPr id="6" name="Text 4"/>
          <p:cNvSpPr/>
          <p:nvPr/>
        </p:nvSpPr>
        <p:spPr>
          <a:xfrm>
            <a:off x="548640" y="1234440"/>
            <a:ext cx="8046720" cy="292608"/>
          </a:xfrm>
          <a:prstGeom prst="rect">
            <a:avLst/>
          </a:prstGeom>
          <a:noFill/>
          <a:ln/>
        </p:spPr>
        <p:txBody>
          <a:bodyPr wrap="square" lIns="0" tIns="0" rIns="0" bIns="0" rtlCol="0" anchor="ctr"/>
          <a:lstStyle/>
          <a:p>
            <a:pPr marL="0" indent="0">
              <a:buNone/>
            </a:pPr>
            <a:r>
              <a:rPr lang="en-US" sz="1400" b="1" kern="0" spc="100" dirty="0">
                <a:solidFill>
                  <a:srgbClr val="C5A030"/>
                </a:solidFill>
                <a:latin typeface="Calibri" pitchFamily="34" charset="0"/>
                <a:ea typeface="Calibri" pitchFamily="34" charset="-122"/>
                <a:cs typeface="Calibri" pitchFamily="34" charset="-120"/>
              </a:rPr>
              <a:t>WEEKLY DIGEST  —  CANDIDATE #3 OF 7  —  TRACK A: CONFIGURATION EDIT</a:t>
            </a:r>
            <a:endParaRPr lang="en-US" sz="1400" dirty="0"/>
          </a:p>
        </p:txBody>
      </p:sp>
      <p:sp>
        <p:nvSpPr>
          <p:cNvPr id="7" name="Text 5"/>
          <p:cNvSpPr/>
          <p:nvPr/>
        </p:nvSpPr>
        <p:spPr>
          <a:xfrm>
            <a:off x="594360" y="1719072"/>
            <a:ext cx="1417320" cy="219456"/>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SIGNAL TYPE:</a:t>
            </a:r>
            <a:endParaRPr lang="en-US" sz="1400" dirty="0"/>
          </a:p>
        </p:txBody>
      </p:sp>
      <p:sp>
        <p:nvSpPr>
          <p:cNvPr id="8" name="Text 6"/>
          <p:cNvSpPr/>
          <p:nvPr/>
        </p:nvSpPr>
        <p:spPr>
          <a:xfrm>
            <a:off x="2103120" y="1719072"/>
            <a:ext cx="6492240" cy="4318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Response Format — Citation / Verification Behavior</a:t>
            </a:r>
            <a:endParaRPr lang="en-US" sz="1400" dirty="0"/>
          </a:p>
        </p:txBody>
      </p:sp>
      <p:sp>
        <p:nvSpPr>
          <p:cNvPr id="9" name="Text 7"/>
          <p:cNvSpPr/>
          <p:nvPr/>
        </p:nvSpPr>
        <p:spPr>
          <a:xfrm>
            <a:off x="594360" y="2249424"/>
            <a:ext cx="1417320" cy="219456"/>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EVIDENCE:</a:t>
            </a:r>
            <a:endParaRPr lang="en-US" sz="1400" dirty="0"/>
          </a:p>
        </p:txBody>
      </p:sp>
      <p:sp>
        <p:nvSpPr>
          <p:cNvPr id="10" name="Text 8"/>
          <p:cNvSpPr/>
          <p:nvPr/>
        </p:nvSpPr>
        <p:spPr>
          <a:xfrm>
            <a:off x="2103120" y="2249424"/>
            <a:ext cx="6492240" cy="4318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14 posts across Reddit (r/ClaudeAI) and HN flagging Claude confidently citing unverifiable figures without qualification. Pattern consistent across 3 consecutive weeks.</a:t>
            </a:r>
            <a:endParaRPr lang="en-US" sz="1400" dirty="0"/>
          </a:p>
        </p:txBody>
      </p:sp>
      <p:sp>
        <p:nvSpPr>
          <p:cNvPr id="11" name="Text 9"/>
          <p:cNvSpPr/>
          <p:nvPr/>
        </p:nvSpPr>
        <p:spPr>
          <a:xfrm>
            <a:off x="594360" y="2779776"/>
            <a:ext cx="1417320" cy="219456"/>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CANDIDATE EDIT:</a:t>
            </a:r>
            <a:endParaRPr lang="en-US" sz="1400" dirty="0"/>
          </a:p>
        </p:txBody>
      </p:sp>
      <p:sp>
        <p:nvSpPr>
          <p:cNvPr id="12" name="Text 10"/>
          <p:cNvSpPr/>
          <p:nvPr/>
        </p:nvSpPr>
        <p:spPr>
          <a:xfrm>
            <a:off x="2103120" y="2779776"/>
            <a:ext cx="6492240" cy="4318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Add to System Prompt: "For any statistic, regulatory reference, or named source — if confidence is below certainty, append [verify] inline. Never assert uncertain facts as confirmed."</a:t>
            </a:r>
            <a:endParaRPr lang="en-US" sz="1400" dirty="0"/>
          </a:p>
        </p:txBody>
      </p:sp>
      <p:sp>
        <p:nvSpPr>
          <p:cNvPr id="13" name="Text 11"/>
          <p:cNvSpPr/>
          <p:nvPr/>
        </p:nvSpPr>
        <p:spPr>
          <a:xfrm>
            <a:off x="594360" y="3310128"/>
            <a:ext cx="1417320" cy="219456"/>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CONFIDENCE:</a:t>
            </a:r>
            <a:endParaRPr lang="en-US" sz="1400" dirty="0"/>
          </a:p>
        </p:txBody>
      </p:sp>
      <p:sp>
        <p:nvSpPr>
          <p:cNvPr id="14" name="Text 12"/>
          <p:cNvSpPr/>
          <p:nvPr/>
        </p:nvSpPr>
        <p:spPr>
          <a:xfrm>
            <a:off x="2103120" y="3310128"/>
            <a:ext cx="6492240" cy="4318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HIGH (0.87) — Corroborated by 14 posts, signal type matches known friction area, no conflicting evidence</a:t>
            </a:r>
            <a:endParaRPr lang="en-US" sz="1400" dirty="0"/>
          </a:p>
        </p:txBody>
      </p:sp>
      <p:sp>
        <p:nvSpPr>
          <p:cNvPr id="15" name="Shape 13"/>
          <p:cNvSpPr/>
          <p:nvPr/>
        </p:nvSpPr>
        <p:spPr>
          <a:xfrm>
            <a:off x="411480" y="4394200"/>
            <a:ext cx="8321040" cy="381000"/>
          </a:xfrm>
          <a:prstGeom prst="rect">
            <a:avLst/>
          </a:prstGeom>
          <a:solidFill>
            <a:srgbClr val="E2E8F0"/>
          </a:solidFill>
          <a:ln w="12700">
            <a:solidFill>
              <a:srgbClr val="E2E8F0"/>
            </a:solidFill>
            <a:prstDash val="solid"/>
          </a:ln>
        </p:spPr>
        <p:txBody>
          <a:bodyPr/>
          <a:lstStyle/>
          <a:p>
            <a:endParaRPr lang="en-US"/>
          </a:p>
        </p:txBody>
      </p:sp>
      <p:sp>
        <p:nvSpPr>
          <p:cNvPr id="16" name="Text 14"/>
          <p:cNvSpPr/>
          <p:nvPr/>
        </p:nvSpPr>
        <p:spPr>
          <a:xfrm>
            <a:off x="566928" y="4445000"/>
            <a:ext cx="2560320" cy="254000"/>
          </a:xfrm>
          <a:prstGeom prst="rect">
            <a:avLst/>
          </a:prstGeom>
          <a:noFill/>
          <a:ln/>
        </p:spPr>
        <p:txBody>
          <a:bodyPr wrap="square" lIns="0" tIns="0" rIns="0" bIns="0"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HUMAN DECISION REQUIRED  →</a:t>
            </a:r>
            <a:endParaRPr lang="en-US" sz="1400" dirty="0"/>
          </a:p>
        </p:txBody>
      </p:sp>
      <p:sp>
        <p:nvSpPr>
          <p:cNvPr id="17" name="Shape 15"/>
          <p:cNvSpPr/>
          <p:nvPr/>
        </p:nvSpPr>
        <p:spPr>
          <a:xfrm>
            <a:off x="3291840" y="4445000"/>
            <a:ext cx="1600200" cy="254000"/>
          </a:xfrm>
          <a:prstGeom prst="rect">
            <a:avLst/>
          </a:prstGeom>
          <a:solidFill>
            <a:srgbClr val="C5A030"/>
          </a:solidFill>
          <a:ln w="12700">
            <a:solidFill>
              <a:srgbClr val="C5A030"/>
            </a:solidFill>
            <a:prstDash val="solid"/>
          </a:ln>
          <a:effectLst>
            <a:outerShdw blurRad="101600" dist="25400" dir="8100000" algn="bl" rotWithShape="0">
              <a:srgbClr val="000000">
                <a:alpha val="12000"/>
              </a:srgbClr>
            </a:outerShdw>
          </a:effectLst>
        </p:spPr>
        <p:txBody>
          <a:bodyPr/>
          <a:lstStyle/>
          <a:p>
            <a:endParaRPr lang="en-US"/>
          </a:p>
        </p:txBody>
      </p:sp>
      <p:sp>
        <p:nvSpPr>
          <p:cNvPr id="18" name="Text 16"/>
          <p:cNvSpPr/>
          <p:nvPr/>
        </p:nvSpPr>
        <p:spPr>
          <a:xfrm>
            <a:off x="3291840" y="4445000"/>
            <a:ext cx="1600200" cy="254000"/>
          </a:xfrm>
          <a:prstGeom prst="rect">
            <a:avLst/>
          </a:prstGeom>
          <a:noFill/>
          <a:ln/>
        </p:spPr>
        <p:txBody>
          <a:bodyPr wrap="square" lIns="0" tIns="0" rIns="0" bIns="0" rtlCol="0" anchor="ctr"/>
          <a:lstStyle/>
          <a:p>
            <a:pPr marL="0" indent="0" algn="ctr">
              <a:buNone/>
            </a:pPr>
            <a:r>
              <a:rPr lang="en-US" sz="1400" b="1" dirty="0">
                <a:solidFill>
                  <a:srgbClr val="0F2036"/>
                </a:solidFill>
                <a:latin typeface="Calibri" pitchFamily="34" charset="0"/>
                <a:ea typeface="Calibri" pitchFamily="34" charset="-122"/>
                <a:cs typeface="Calibri" pitchFamily="34" charset="-120"/>
              </a:rPr>
              <a:t>APPLY</a:t>
            </a:r>
            <a:endParaRPr lang="en-US" sz="1400" dirty="0"/>
          </a:p>
        </p:txBody>
      </p:sp>
      <p:sp>
        <p:nvSpPr>
          <p:cNvPr id="19" name="Shape 17"/>
          <p:cNvSpPr/>
          <p:nvPr/>
        </p:nvSpPr>
        <p:spPr>
          <a:xfrm>
            <a:off x="5166360" y="4445000"/>
            <a:ext cx="1600200" cy="254000"/>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20" name="Text 18"/>
          <p:cNvSpPr/>
          <p:nvPr/>
        </p:nvSpPr>
        <p:spPr>
          <a:xfrm>
            <a:off x="5166360" y="4445000"/>
            <a:ext cx="1600200" cy="2540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DEFER</a:t>
            </a:r>
            <a:endParaRPr lang="en-US" sz="1400" dirty="0"/>
          </a:p>
        </p:txBody>
      </p:sp>
      <p:sp>
        <p:nvSpPr>
          <p:cNvPr id="21" name="Shape 19"/>
          <p:cNvSpPr/>
          <p:nvPr/>
        </p:nvSpPr>
        <p:spPr>
          <a:xfrm>
            <a:off x="7040880" y="4445000"/>
            <a:ext cx="1600200" cy="254000"/>
          </a:xfrm>
          <a:prstGeom prst="rect">
            <a:avLst/>
          </a:prstGeom>
          <a:solidFill>
            <a:srgbClr val="7F1D1D"/>
          </a:solidFill>
          <a:ln w="12700">
            <a:solidFill>
              <a:srgbClr val="7F1D1D"/>
            </a:solidFill>
            <a:prstDash val="solid"/>
          </a:ln>
          <a:effectLst>
            <a:outerShdw blurRad="101600" dist="25400" dir="8100000" algn="bl" rotWithShape="0">
              <a:srgbClr val="000000">
                <a:alpha val="12000"/>
              </a:srgbClr>
            </a:outerShdw>
          </a:effectLst>
        </p:spPr>
        <p:txBody>
          <a:bodyPr/>
          <a:lstStyle/>
          <a:p>
            <a:endParaRPr lang="en-US"/>
          </a:p>
        </p:txBody>
      </p:sp>
      <p:sp>
        <p:nvSpPr>
          <p:cNvPr id="22" name="Text 20"/>
          <p:cNvSpPr/>
          <p:nvPr/>
        </p:nvSpPr>
        <p:spPr>
          <a:xfrm>
            <a:off x="7040880" y="4445000"/>
            <a:ext cx="1600200" cy="2540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411480" y="4800600"/>
            <a:ext cx="8321040" cy="3048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All decisions require a human-written hypothesis. Every change is logged with author + rationale.</a:t>
            </a:r>
            <a:endParaRPr lang="en-US" sz="1200" dirty="0"/>
          </a:p>
        </p:txBody>
      </p:sp>
    </p:spTree>
    <p:extLst>
      <p:ext uri="{BB962C8B-B14F-4D97-AF65-F5344CB8AC3E}">
        <p14:creationId xmlns:p14="http://schemas.microsoft.com/office/powerpoint/2010/main" val="205681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ARCHITECTURE DECISION</a:t>
            </a:r>
            <a:endParaRPr lang="en-US" sz="800" dirty="0"/>
          </a:p>
        </p:txBody>
      </p:sp>
      <p:sp>
        <p:nvSpPr>
          <p:cNvPr id="3" name="Text 1"/>
          <p:cNvSpPr/>
          <p:nvPr/>
        </p:nvSpPr>
        <p:spPr>
          <a:xfrm>
            <a:off x="411480" y="457200"/>
            <a:ext cx="8321040" cy="8686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CLAIRE vs. CLAIRE-A:</a:t>
            </a:r>
            <a:endParaRPr lang="en-US" sz="1800" dirty="0"/>
          </a:p>
          <a:p>
            <a:pPr marL="0" indent="0">
              <a:buNone/>
            </a:pPr>
            <a:r>
              <a:rPr lang="en-US" sz="1800" b="1" dirty="0">
                <a:solidFill>
                  <a:srgbClr val="FFFFFF"/>
                </a:solidFill>
                <a:latin typeface="Georgia" pitchFamily="34" charset="0"/>
                <a:ea typeface="Georgia" pitchFamily="34" charset="-122"/>
                <a:cs typeface="Georgia" pitchFamily="34" charset="-120"/>
              </a:rPr>
              <a:t>The most important distinction in the system.</a:t>
            </a:r>
            <a:endParaRPr lang="en-US" sz="1800" dirty="0"/>
          </a:p>
        </p:txBody>
      </p:sp>
      <p:sp>
        <p:nvSpPr>
          <p:cNvPr id="4" name="Shape 2"/>
          <p:cNvSpPr/>
          <p:nvPr/>
        </p:nvSpPr>
        <p:spPr>
          <a:xfrm>
            <a:off x="411480" y="1481328"/>
            <a:ext cx="3931920" cy="3401568"/>
          </a:xfrm>
          <a:prstGeom prst="rect">
            <a:avLst/>
          </a:prstGeom>
          <a:solidFill>
            <a:srgbClr val="1A3A5C"/>
          </a:solidFill>
          <a:ln w="12700">
            <a:solidFill>
              <a:srgbClr val="1A3A5C"/>
            </a:solidFill>
            <a:prstDash val="solid"/>
          </a:ln>
        </p:spPr>
        <p:txBody>
          <a:bodyPr/>
          <a:lstStyle/>
          <a:p>
            <a:endParaRPr lang="en-US"/>
          </a:p>
        </p:txBody>
      </p:sp>
      <p:sp>
        <p:nvSpPr>
          <p:cNvPr id="5" name="Shape 3"/>
          <p:cNvSpPr/>
          <p:nvPr/>
        </p:nvSpPr>
        <p:spPr>
          <a:xfrm>
            <a:off x="411480" y="1481328"/>
            <a:ext cx="3931920" cy="438912"/>
          </a:xfrm>
          <a:prstGeom prst="rect">
            <a:avLst/>
          </a:prstGeom>
          <a:solidFill>
            <a:srgbClr val="C5A030"/>
          </a:solidFill>
          <a:ln w="12700">
            <a:solidFill>
              <a:srgbClr val="C5A030"/>
            </a:solidFill>
            <a:prstDash val="solid"/>
          </a:ln>
        </p:spPr>
        <p:txBody>
          <a:bodyPr/>
          <a:lstStyle/>
          <a:p>
            <a:endParaRPr lang="en-US"/>
          </a:p>
        </p:txBody>
      </p:sp>
      <p:sp>
        <p:nvSpPr>
          <p:cNvPr id="6" name="Text 4"/>
          <p:cNvSpPr/>
          <p:nvPr/>
        </p:nvSpPr>
        <p:spPr>
          <a:xfrm>
            <a:off x="502920" y="1527048"/>
            <a:ext cx="3749040" cy="329184"/>
          </a:xfrm>
          <a:prstGeom prst="rect">
            <a:avLst/>
          </a:prstGeom>
          <a:noFill/>
          <a:ln/>
        </p:spPr>
        <p:txBody>
          <a:bodyPr wrap="square" lIns="0" tIns="0" rIns="0" bIns="0" rtlCol="0" anchor="ctr"/>
          <a:lstStyle/>
          <a:p>
            <a:pPr marL="0" indent="0">
              <a:buNone/>
            </a:pPr>
            <a:r>
              <a:rPr lang="en-US" sz="1400" b="1" dirty="0">
                <a:solidFill>
                  <a:srgbClr val="0F2036"/>
                </a:solidFill>
                <a:latin typeface="Calibri" pitchFamily="34" charset="0"/>
                <a:ea typeface="Calibri" pitchFamily="34" charset="-122"/>
                <a:cs typeface="Calibri" pitchFamily="34" charset="-120"/>
              </a:rPr>
              <a:t>CLAIRE  (Original)</a:t>
            </a:r>
            <a:endParaRPr lang="en-US" sz="1400" dirty="0"/>
          </a:p>
        </p:txBody>
      </p:sp>
      <p:sp>
        <p:nvSpPr>
          <p:cNvPr id="7" name="Text 5"/>
          <p:cNvSpPr/>
          <p:nvPr/>
        </p:nvSpPr>
        <p:spPr>
          <a:xfrm>
            <a:off x="548640" y="2029968"/>
            <a:ext cx="3657600" cy="2743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  Agentic pipeline — structured automation</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Ingests, triages, synthesizes on a schedule</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Outputs candidates for human review</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Human writes the hypothesis</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Human decides: Apply · Defer · Reject</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No autonomous action on live configuration</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Audit trail on every decision</a:t>
            </a:r>
            <a:endParaRPr lang="en-US" sz="1400" dirty="0"/>
          </a:p>
        </p:txBody>
      </p:sp>
      <p:sp>
        <p:nvSpPr>
          <p:cNvPr id="8" name="Shape 6"/>
          <p:cNvSpPr/>
          <p:nvPr/>
        </p:nvSpPr>
        <p:spPr>
          <a:xfrm>
            <a:off x="4754880" y="1481328"/>
            <a:ext cx="3977640" cy="3401568"/>
          </a:xfrm>
          <a:prstGeom prst="rect">
            <a:avLst/>
          </a:prstGeom>
          <a:solidFill>
            <a:srgbClr val="1A3A5C"/>
          </a:solidFill>
          <a:ln w="12700">
            <a:solidFill>
              <a:srgbClr val="1A3A5C"/>
            </a:solidFill>
            <a:prstDash val="solid"/>
          </a:ln>
        </p:spPr>
        <p:txBody>
          <a:bodyPr/>
          <a:lstStyle/>
          <a:p>
            <a:endParaRPr lang="en-US"/>
          </a:p>
        </p:txBody>
      </p:sp>
      <p:sp>
        <p:nvSpPr>
          <p:cNvPr id="9" name="Shape 7"/>
          <p:cNvSpPr/>
          <p:nvPr/>
        </p:nvSpPr>
        <p:spPr>
          <a:xfrm>
            <a:off x="4754880" y="1481328"/>
            <a:ext cx="3977640" cy="438912"/>
          </a:xfrm>
          <a:prstGeom prst="rect">
            <a:avLst/>
          </a:prstGeom>
          <a:solidFill>
            <a:srgbClr val="0F2036"/>
          </a:solidFill>
          <a:ln w="12700">
            <a:solidFill>
              <a:srgbClr val="0F2036"/>
            </a:solidFill>
            <a:prstDash val="solid"/>
          </a:ln>
        </p:spPr>
        <p:txBody>
          <a:bodyPr/>
          <a:lstStyle/>
          <a:p>
            <a:endParaRPr lang="en-US"/>
          </a:p>
        </p:txBody>
      </p:sp>
      <p:sp>
        <p:nvSpPr>
          <p:cNvPr id="10" name="Shape 8"/>
          <p:cNvSpPr/>
          <p:nvPr/>
        </p:nvSpPr>
        <p:spPr>
          <a:xfrm>
            <a:off x="4754880" y="1481328"/>
            <a:ext cx="64008" cy="3401568"/>
          </a:xfrm>
          <a:prstGeom prst="rect">
            <a:avLst/>
          </a:prstGeom>
          <a:solidFill>
            <a:srgbClr val="C5A030"/>
          </a:solidFill>
          <a:ln w="12700">
            <a:solidFill>
              <a:srgbClr val="C5A030"/>
            </a:solidFill>
            <a:prstDash val="solid"/>
          </a:ln>
        </p:spPr>
        <p:txBody>
          <a:bodyPr/>
          <a:lstStyle/>
          <a:p>
            <a:endParaRPr lang="en-US"/>
          </a:p>
        </p:txBody>
      </p:sp>
      <p:sp>
        <p:nvSpPr>
          <p:cNvPr id="11" name="Text 9"/>
          <p:cNvSpPr/>
          <p:nvPr/>
        </p:nvSpPr>
        <p:spPr>
          <a:xfrm>
            <a:off x="4919472" y="1527048"/>
            <a:ext cx="3657600" cy="329184"/>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CLAIRE-A  (Shadow Layer)</a:t>
            </a:r>
            <a:endParaRPr lang="en-US" sz="1400" dirty="0"/>
          </a:p>
        </p:txBody>
      </p:sp>
      <p:sp>
        <p:nvSpPr>
          <p:cNvPr id="12" name="Text 10"/>
          <p:cNvSpPr/>
          <p:nvPr/>
        </p:nvSpPr>
        <p:spPr>
          <a:xfrm>
            <a:off x="4919472" y="2029968"/>
            <a:ext cx="3657600" cy="2743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  Autonomous agent layer — but shadow-only</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Reads candidate payload from CLAIRE output</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Opus model reasons, writes its own hypothesis</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Sonnet model scores the decision quality</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Builds a reliability ledger over time</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Writes NOTHING to live configuration</a:t>
            </a: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  Every output is auditable, reversible, logged</a:t>
            </a:r>
            <a:endParaRPr lang="en-US" sz="1400" dirty="0"/>
          </a:p>
        </p:txBody>
      </p:sp>
      <p:sp>
        <p:nvSpPr>
          <p:cNvPr id="13" name="Text 11"/>
          <p:cNvSpPr/>
          <p:nvPr/>
        </p:nvSpPr>
        <p:spPr>
          <a:xfrm>
            <a:off x="502920" y="4919472"/>
            <a:ext cx="8229600" cy="201168"/>
          </a:xfrm>
          <a:prstGeom prst="rect">
            <a:avLst/>
          </a:prstGeom>
          <a:noFill/>
          <a:ln/>
        </p:spPr>
        <p:txBody>
          <a:bodyPr wrap="square" lIns="0" tIns="0" rIns="0" bIns="0" rtlCol="0" anchor="ctr"/>
          <a:lstStyle/>
          <a:p>
            <a:pPr marL="0" indent="0">
              <a:buNone/>
            </a:pPr>
            <a:r>
              <a:rPr lang="en-US" sz="1400" i="1" dirty="0">
                <a:solidFill>
                  <a:srgbClr val="E2E8F0"/>
                </a:solidFill>
                <a:latin typeface="Calibri" pitchFamily="34" charset="0"/>
                <a:ea typeface="Calibri" pitchFamily="34" charset="-122"/>
                <a:cs typeface="Calibri" pitchFamily="34" charset="-120"/>
              </a:rPr>
              <a:t>CLAIRE-A is how we study what autonomous AI decision-making looks like — before we ever let it act.</a:t>
            </a:r>
            <a:endParaRPr lang="en-US" sz="1400" dirty="0"/>
          </a:p>
        </p:txBody>
      </p:sp>
    </p:spTree>
    <p:extLst>
      <p:ext uri="{BB962C8B-B14F-4D97-AF65-F5344CB8AC3E}">
        <p14:creationId xmlns:p14="http://schemas.microsoft.com/office/powerpoint/2010/main" val="502020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DISTINCTION THAT MATTERS</a:t>
            </a:r>
            <a:endParaRPr lang="en-US" sz="800" dirty="0"/>
          </a:p>
        </p:txBody>
      </p:sp>
      <p:sp>
        <p:nvSpPr>
          <p:cNvPr id="3" name="Text 1"/>
          <p:cNvSpPr/>
          <p:nvPr/>
        </p:nvSpPr>
        <p:spPr>
          <a:xfrm>
            <a:off x="411480" y="475488"/>
            <a:ext cx="8321040" cy="584200"/>
          </a:xfrm>
          <a:prstGeom prst="rect">
            <a:avLst/>
          </a:prstGeom>
          <a:noFill/>
          <a:ln/>
        </p:spPr>
        <p:txBody>
          <a:bodyPr wrap="square" lIns="0" tIns="0" rIns="0" bIns="0" rtlCol="0" anchor="ctr"/>
          <a:lstStyle/>
          <a:p>
            <a:pPr marL="0" indent="0">
              <a:buNone/>
            </a:pPr>
            <a:r>
              <a:rPr lang="en-US" sz="1500" b="1" dirty="0">
                <a:solidFill>
                  <a:srgbClr val="1E3A5F"/>
                </a:solidFill>
                <a:latin typeface="Georgia" pitchFamily="34" charset="0"/>
                <a:ea typeface="Georgia" pitchFamily="34" charset="-122"/>
                <a:cs typeface="Georgia" pitchFamily="34" charset="-120"/>
              </a:rPr>
              <a:t>"Agentic" means AI does the work.</a:t>
            </a:r>
            <a:endParaRPr lang="en-US" sz="1500" dirty="0"/>
          </a:p>
          <a:p>
            <a:pPr marL="0" indent="0">
              <a:buNone/>
            </a:pPr>
            <a:r>
              <a:rPr lang="en-US" sz="1500" b="1" dirty="0">
                <a:solidFill>
                  <a:srgbClr val="1E3A5F"/>
                </a:solidFill>
                <a:latin typeface="Georgia" pitchFamily="34" charset="0"/>
                <a:ea typeface="Georgia" pitchFamily="34" charset="-122"/>
                <a:cs typeface="Georgia" pitchFamily="34" charset="-120"/>
              </a:rPr>
              <a:t>"Autonomous" means AI makes the decisions.</a:t>
            </a:r>
            <a:endParaRPr lang="en-US" sz="1500" dirty="0"/>
          </a:p>
        </p:txBody>
      </p:sp>
      <p:sp>
        <p:nvSpPr>
          <p:cNvPr id="4" name="Shape 2"/>
          <p:cNvSpPr/>
          <p:nvPr/>
        </p:nvSpPr>
        <p:spPr>
          <a:xfrm>
            <a:off x="411480" y="1143000"/>
            <a:ext cx="3840480" cy="31496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411480" y="1143000"/>
            <a:ext cx="3840480" cy="347472"/>
          </a:xfrm>
          <a:prstGeom prst="rect">
            <a:avLst/>
          </a:prstGeom>
          <a:solidFill>
            <a:srgbClr val="1E3A5F"/>
          </a:solidFill>
          <a:ln w="12700">
            <a:solidFill>
              <a:srgbClr val="1E3A5F"/>
            </a:solidFill>
            <a:prstDash val="solid"/>
          </a:ln>
        </p:spPr>
        <p:txBody>
          <a:bodyPr/>
          <a:lstStyle/>
          <a:p>
            <a:endParaRPr lang="en-US"/>
          </a:p>
        </p:txBody>
      </p:sp>
      <p:sp>
        <p:nvSpPr>
          <p:cNvPr id="6" name="Text 4"/>
          <p:cNvSpPr/>
          <p:nvPr/>
        </p:nvSpPr>
        <p:spPr>
          <a:xfrm>
            <a:off x="502920" y="1181100"/>
            <a:ext cx="3566160" cy="256032"/>
          </a:xfrm>
          <a:prstGeom prst="rect">
            <a:avLst/>
          </a:prstGeom>
          <a:noFill/>
          <a:ln/>
        </p:spPr>
        <p:txBody>
          <a:bodyPr wrap="square" lIns="0" tIns="0" rIns="0" bIns="0" rtlCol="0" anchor="ctr"/>
          <a:lstStyle/>
          <a:p>
            <a:pPr marL="0" indent="0">
              <a:buNone/>
            </a:pPr>
            <a:r>
              <a:rPr lang="en-US" sz="1400" b="1" kern="0" spc="100" dirty="0">
                <a:solidFill>
                  <a:srgbClr val="C5A030"/>
                </a:solidFill>
                <a:latin typeface="Calibri" pitchFamily="34" charset="0"/>
                <a:ea typeface="Calibri" pitchFamily="34" charset="-122"/>
                <a:cs typeface="Calibri" pitchFamily="34" charset="-120"/>
              </a:rPr>
              <a:t>AGENTIC PIPELINE (CLAIRE)</a:t>
            </a:r>
            <a:endParaRPr lang="en-US" sz="1400" dirty="0"/>
          </a:p>
        </p:txBody>
      </p:sp>
      <p:sp>
        <p:nvSpPr>
          <p:cNvPr id="7" name="Shape 5"/>
          <p:cNvSpPr/>
          <p:nvPr/>
        </p:nvSpPr>
        <p:spPr>
          <a:xfrm>
            <a:off x="548640" y="1536700"/>
            <a:ext cx="713232" cy="279400"/>
          </a:xfrm>
          <a:prstGeom prst="rect">
            <a:avLst/>
          </a:prstGeom>
          <a:solidFill>
            <a:srgbClr val="1E3A5F"/>
          </a:solidFill>
          <a:ln w="12700">
            <a:solidFill>
              <a:srgbClr val="1E3A5F"/>
            </a:solidFill>
            <a:prstDash val="solid"/>
          </a:ln>
        </p:spPr>
        <p:txBody>
          <a:bodyPr/>
          <a:lstStyle/>
          <a:p>
            <a:endParaRPr lang="en-US"/>
          </a:p>
        </p:txBody>
      </p:sp>
      <p:sp>
        <p:nvSpPr>
          <p:cNvPr id="8" name="Text 6"/>
          <p:cNvSpPr/>
          <p:nvPr/>
        </p:nvSpPr>
        <p:spPr>
          <a:xfrm>
            <a:off x="548640" y="15367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9" name="Text 7"/>
          <p:cNvSpPr/>
          <p:nvPr/>
        </p:nvSpPr>
        <p:spPr>
          <a:xfrm>
            <a:off x="1353312" y="1587500"/>
            <a:ext cx="27432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Reads 500+ posts</a:t>
            </a:r>
            <a:endParaRPr lang="en-US" sz="1400" dirty="0"/>
          </a:p>
        </p:txBody>
      </p:sp>
      <p:sp>
        <p:nvSpPr>
          <p:cNvPr id="10" name="Shape 8"/>
          <p:cNvSpPr/>
          <p:nvPr/>
        </p:nvSpPr>
        <p:spPr>
          <a:xfrm>
            <a:off x="548640" y="1993900"/>
            <a:ext cx="713232" cy="279400"/>
          </a:xfrm>
          <a:prstGeom prst="rect">
            <a:avLst/>
          </a:prstGeom>
          <a:solidFill>
            <a:srgbClr val="1E3A5F"/>
          </a:solidFill>
          <a:ln w="12700">
            <a:solidFill>
              <a:srgbClr val="1E3A5F"/>
            </a:solidFill>
            <a:prstDash val="solid"/>
          </a:ln>
        </p:spPr>
        <p:txBody>
          <a:bodyPr/>
          <a:lstStyle/>
          <a:p>
            <a:endParaRPr lang="en-US"/>
          </a:p>
        </p:txBody>
      </p:sp>
      <p:sp>
        <p:nvSpPr>
          <p:cNvPr id="11" name="Text 9"/>
          <p:cNvSpPr/>
          <p:nvPr/>
        </p:nvSpPr>
        <p:spPr>
          <a:xfrm>
            <a:off x="548640" y="19939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12" name="Text 10"/>
          <p:cNvSpPr/>
          <p:nvPr/>
        </p:nvSpPr>
        <p:spPr>
          <a:xfrm>
            <a:off x="1353312" y="2044700"/>
            <a:ext cx="27432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Scores relevance</a:t>
            </a:r>
            <a:endParaRPr lang="en-US" sz="1400" dirty="0"/>
          </a:p>
        </p:txBody>
      </p:sp>
      <p:sp>
        <p:nvSpPr>
          <p:cNvPr id="13" name="Shape 11"/>
          <p:cNvSpPr/>
          <p:nvPr/>
        </p:nvSpPr>
        <p:spPr>
          <a:xfrm>
            <a:off x="548640" y="2451100"/>
            <a:ext cx="713232" cy="279400"/>
          </a:xfrm>
          <a:prstGeom prst="rect">
            <a:avLst/>
          </a:prstGeom>
          <a:solidFill>
            <a:srgbClr val="1E3A5F"/>
          </a:solidFill>
          <a:ln w="12700">
            <a:solidFill>
              <a:srgbClr val="1E3A5F"/>
            </a:solidFill>
            <a:prstDash val="solid"/>
          </a:ln>
        </p:spPr>
        <p:txBody>
          <a:bodyPr/>
          <a:lstStyle/>
          <a:p>
            <a:endParaRPr lang="en-US"/>
          </a:p>
        </p:txBody>
      </p:sp>
      <p:sp>
        <p:nvSpPr>
          <p:cNvPr id="14" name="Text 12"/>
          <p:cNvSpPr/>
          <p:nvPr/>
        </p:nvSpPr>
        <p:spPr>
          <a:xfrm>
            <a:off x="548640" y="24511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15" name="Text 13"/>
          <p:cNvSpPr/>
          <p:nvPr/>
        </p:nvSpPr>
        <p:spPr>
          <a:xfrm>
            <a:off x="1353312" y="2501900"/>
            <a:ext cx="27432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Writes candidate summary</a:t>
            </a:r>
            <a:endParaRPr lang="en-US" sz="1400" dirty="0"/>
          </a:p>
        </p:txBody>
      </p:sp>
      <p:sp>
        <p:nvSpPr>
          <p:cNvPr id="16" name="Shape 14"/>
          <p:cNvSpPr/>
          <p:nvPr/>
        </p:nvSpPr>
        <p:spPr>
          <a:xfrm>
            <a:off x="548640" y="2908300"/>
            <a:ext cx="713232" cy="279400"/>
          </a:xfrm>
          <a:prstGeom prst="rect">
            <a:avLst/>
          </a:prstGeom>
          <a:solidFill>
            <a:srgbClr val="C5A030"/>
          </a:solidFill>
          <a:ln w="12700">
            <a:solidFill>
              <a:srgbClr val="C5A030"/>
            </a:solidFill>
            <a:prstDash val="solid"/>
          </a:ln>
        </p:spPr>
        <p:txBody>
          <a:bodyPr/>
          <a:lstStyle/>
          <a:p>
            <a:endParaRPr lang="en-US"/>
          </a:p>
        </p:txBody>
      </p:sp>
      <p:sp>
        <p:nvSpPr>
          <p:cNvPr id="17" name="Text 15"/>
          <p:cNvSpPr/>
          <p:nvPr/>
        </p:nvSpPr>
        <p:spPr>
          <a:xfrm>
            <a:off x="548640" y="2908300"/>
            <a:ext cx="713232" cy="279400"/>
          </a:xfrm>
          <a:prstGeom prst="rect">
            <a:avLst/>
          </a:prstGeom>
          <a:noFill/>
          <a:ln/>
        </p:spPr>
        <p:txBody>
          <a:bodyPr wrap="square" lIns="0" tIns="0" rIns="0" bIns="0" rtlCol="0" anchor="ctr"/>
          <a:lstStyle/>
          <a:p>
            <a:pPr marL="0" indent="0" algn="ctr">
              <a:buNone/>
            </a:pPr>
            <a:r>
              <a:rPr lang="en-US" sz="1400" b="1" dirty="0">
                <a:solidFill>
                  <a:srgbClr val="0F2036"/>
                </a:solidFill>
                <a:latin typeface="Calibri" pitchFamily="34" charset="0"/>
                <a:ea typeface="Calibri" pitchFamily="34" charset="-122"/>
                <a:cs typeface="Calibri" pitchFamily="34" charset="-120"/>
              </a:rPr>
              <a:t>HUMAN</a:t>
            </a:r>
            <a:endParaRPr lang="en-US" sz="1400" dirty="0"/>
          </a:p>
        </p:txBody>
      </p:sp>
      <p:sp>
        <p:nvSpPr>
          <p:cNvPr id="18" name="Text 16"/>
          <p:cNvSpPr/>
          <p:nvPr/>
        </p:nvSpPr>
        <p:spPr>
          <a:xfrm>
            <a:off x="1353312" y="2959100"/>
            <a:ext cx="27432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Decides to apply or defer</a:t>
            </a:r>
            <a:endParaRPr lang="en-US" sz="1400" dirty="0"/>
          </a:p>
        </p:txBody>
      </p:sp>
      <p:sp>
        <p:nvSpPr>
          <p:cNvPr id="19" name="Shape 17"/>
          <p:cNvSpPr/>
          <p:nvPr/>
        </p:nvSpPr>
        <p:spPr>
          <a:xfrm>
            <a:off x="548640" y="3365500"/>
            <a:ext cx="713232" cy="279400"/>
          </a:xfrm>
          <a:prstGeom prst="rect">
            <a:avLst/>
          </a:prstGeom>
          <a:solidFill>
            <a:srgbClr val="C5A030"/>
          </a:solidFill>
          <a:ln w="12700">
            <a:solidFill>
              <a:srgbClr val="C5A030"/>
            </a:solidFill>
            <a:prstDash val="solid"/>
          </a:ln>
        </p:spPr>
        <p:txBody>
          <a:bodyPr/>
          <a:lstStyle/>
          <a:p>
            <a:endParaRPr lang="en-US"/>
          </a:p>
        </p:txBody>
      </p:sp>
      <p:sp>
        <p:nvSpPr>
          <p:cNvPr id="20" name="Text 18"/>
          <p:cNvSpPr/>
          <p:nvPr/>
        </p:nvSpPr>
        <p:spPr>
          <a:xfrm>
            <a:off x="548640" y="3365500"/>
            <a:ext cx="713232" cy="279400"/>
          </a:xfrm>
          <a:prstGeom prst="rect">
            <a:avLst/>
          </a:prstGeom>
          <a:noFill/>
          <a:ln/>
        </p:spPr>
        <p:txBody>
          <a:bodyPr wrap="square" lIns="0" tIns="0" rIns="0" bIns="0" rtlCol="0" anchor="ctr"/>
          <a:lstStyle/>
          <a:p>
            <a:pPr marL="0" indent="0" algn="ctr">
              <a:buNone/>
            </a:pPr>
            <a:r>
              <a:rPr lang="en-US" sz="1400" b="1" dirty="0">
                <a:solidFill>
                  <a:srgbClr val="0F2036"/>
                </a:solidFill>
                <a:latin typeface="Calibri" pitchFamily="34" charset="0"/>
                <a:ea typeface="Calibri" pitchFamily="34" charset="-122"/>
                <a:cs typeface="Calibri" pitchFamily="34" charset="-120"/>
              </a:rPr>
              <a:t>HUMAN</a:t>
            </a:r>
            <a:endParaRPr lang="en-US" sz="1400" dirty="0"/>
          </a:p>
        </p:txBody>
      </p:sp>
      <p:sp>
        <p:nvSpPr>
          <p:cNvPr id="21" name="Text 19"/>
          <p:cNvSpPr/>
          <p:nvPr/>
        </p:nvSpPr>
        <p:spPr>
          <a:xfrm>
            <a:off x="1353312" y="3416300"/>
            <a:ext cx="27432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Writes hypothesis / rationale</a:t>
            </a:r>
            <a:endParaRPr lang="en-US" sz="1400" dirty="0"/>
          </a:p>
        </p:txBody>
      </p:sp>
      <p:sp>
        <p:nvSpPr>
          <p:cNvPr id="22" name="Shape 20"/>
          <p:cNvSpPr/>
          <p:nvPr/>
        </p:nvSpPr>
        <p:spPr>
          <a:xfrm>
            <a:off x="548640" y="3822700"/>
            <a:ext cx="713232" cy="279400"/>
          </a:xfrm>
          <a:prstGeom prst="rect">
            <a:avLst/>
          </a:prstGeom>
          <a:solidFill>
            <a:srgbClr val="C5A030"/>
          </a:solidFill>
          <a:ln w="12700">
            <a:solidFill>
              <a:srgbClr val="C5A030"/>
            </a:solidFill>
            <a:prstDash val="solid"/>
          </a:ln>
        </p:spPr>
        <p:txBody>
          <a:bodyPr/>
          <a:lstStyle/>
          <a:p>
            <a:endParaRPr lang="en-US"/>
          </a:p>
        </p:txBody>
      </p:sp>
      <p:sp>
        <p:nvSpPr>
          <p:cNvPr id="23" name="Text 21"/>
          <p:cNvSpPr/>
          <p:nvPr/>
        </p:nvSpPr>
        <p:spPr>
          <a:xfrm>
            <a:off x="548640" y="3822700"/>
            <a:ext cx="713232" cy="279400"/>
          </a:xfrm>
          <a:prstGeom prst="rect">
            <a:avLst/>
          </a:prstGeom>
          <a:noFill/>
          <a:ln/>
        </p:spPr>
        <p:txBody>
          <a:bodyPr wrap="square" lIns="0" tIns="0" rIns="0" bIns="0" rtlCol="0" anchor="ctr"/>
          <a:lstStyle/>
          <a:p>
            <a:pPr marL="0" indent="0" algn="ctr">
              <a:buNone/>
            </a:pPr>
            <a:r>
              <a:rPr lang="en-US" sz="1400" b="1" dirty="0">
                <a:solidFill>
                  <a:srgbClr val="0F2036"/>
                </a:solidFill>
                <a:latin typeface="Calibri" pitchFamily="34" charset="0"/>
                <a:ea typeface="Calibri" pitchFamily="34" charset="-122"/>
                <a:cs typeface="Calibri" pitchFamily="34" charset="-120"/>
              </a:rPr>
              <a:t>HUMAN</a:t>
            </a:r>
            <a:endParaRPr lang="en-US" sz="1400" dirty="0"/>
          </a:p>
        </p:txBody>
      </p:sp>
      <p:sp>
        <p:nvSpPr>
          <p:cNvPr id="24" name="Text 22"/>
          <p:cNvSpPr/>
          <p:nvPr/>
        </p:nvSpPr>
        <p:spPr>
          <a:xfrm>
            <a:off x="1353312" y="3873500"/>
            <a:ext cx="27432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Logs and applies the change</a:t>
            </a:r>
            <a:endParaRPr lang="en-US" sz="1400" dirty="0"/>
          </a:p>
        </p:txBody>
      </p:sp>
      <p:sp>
        <p:nvSpPr>
          <p:cNvPr id="25" name="Text 23"/>
          <p:cNvSpPr/>
          <p:nvPr/>
        </p:nvSpPr>
        <p:spPr>
          <a:xfrm>
            <a:off x="548640" y="4368800"/>
            <a:ext cx="3566160" cy="50800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Human remains decision-maker.</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AI does the research and drafting.</a:t>
            </a:r>
            <a:endParaRPr lang="en-US" sz="1400" dirty="0"/>
          </a:p>
        </p:txBody>
      </p:sp>
      <p:sp>
        <p:nvSpPr>
          <p:cNvPr id="26" name="Shape 24"/>
          <p:cNvSpPr/>
          <p:nvPr/>
        </p:nvSpPr>
        <p:spPr>
          <a:xfrm>
            <a:off x="4663440" y="1143000"/>
            <a:ext cx="4069080" cy="31496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27" name="Shape 25"/>
          <p:cNvSpPr/>
          <p:nvPr/>
        </p:nvSpPr>
        <p:spPr>
          <a:xfrm>
            <a:off x="4663440" y="1143000"/>
            <a:ext cx="4069080" cy="347472"/>
          </a:xfrm>
          <a:prstGeom prst="rect">
            <a:avLst/>
          </a:prstGeom>
          <a:solidFill>
            <a:srgbClr val="1E3A5F"/>
          </a:solidFill>
          <a:ln w="12700">
            <a:solidFill>
              <a:srgbClr val="1E3A5F"/>
            </a:solidFill>
            <a:prstDash val="solid"/>
          </a:ln>
        </p:spPr>
        <p:txBody>
          <a:bodyPr/>
          <a:lstStyle/>
          <a:p>
            <a:endParaRPr lang="en-US"/>
          </a:p>
        </p:txBody>
      </p:sp>
      <p:sp>
        <p:nvSpPr>
          <p:cNvPr id="28" name="Shape 26"/>
          <p:cNvSpPr/>
          <p:nvPr/>
        </p:nvSpPr>
        <p:spPr>
          <a:xfrm>
            <a:off x="4663440" y="1143000"/>
            <a:ext cx="64008" cy="3149600"/>
          </a:xfrm>
          <a:prstGeom prst="rect">
            <a:avLst/>
          </a:prstGeom>
          <a:solidFill>
            <a:srgbClr val="C5A030"/>
          </a:solidFill>
          <a:ln w="12700">
            <a:solidFill>
              <a:srgbClr val="C5A030"/>
            </a:solidFill>
            <a:prstDash val="solid"/>
          </a:ln>
        </p:spPr>
        <p:txBody>
          <a:bodyPr/>
          <a:lstStyle/>
          <a:p>
            <a:endParaRPr lang="en-US"/>
          </a:p>
        </p:txBody>
      </p:sp>
      <p:sp>
        <p:nvSpPr>
          <p:cNvPr id="29" name="Text 27"/>
          <p:cNvSpPr/>
          <p:nvPr/>
        </p:nvSpPr>
        <p:spPr>
          <a:xfrm>
            <a:off x="4828032" y="1181100"/>
            <a:ext cx="3794760" cy="256032"/>
          </a:xfrm>
          <a:prstGeom prst="rect">
            <a:avLst/>
          </a:prstGeom>
          <a:noFill/>
          <a:ln/>
        </p:spPr>
        <p:txBody>
          <a:bodyPr wrap="square" lIns="0" tIns="0" rIns="0" bIns="0" rtlCol="0" anchor="ctr"/>
          <a:lstStyle/>
          <a:p>
            <a:pPr marL="0" indent="0">
              <a:buNone/>
            </a:pPr>
            <a:r>
              <a:rPr lang="en-US" sz="1400" b="1" kern="0" spc="100" dirty="0">
                <a:solidFill>
                  <a:srgbClr val="C5A030"/>
                </a:solidFill>
                <a:latin typeface="Calibri" pitchFamily="34" charset="0"/>
                <a:ea typeface="Calibri" pitchFamily="34" charset="-122"/>
                <a:cs typeface="Calibri" pitchFamily="34" charset="-120"/>
              </a:rPr>
              <a:t>AUTONOMOUS AGENT (CLAIRE-A, SHADOW)</a:t>
            </a:r>
            <a:endParaRPr lang="en-US" sz="1400" dirty="0"/>
          </a:p>
        </p:txBody>
      </p:sp>
      <p:sp>
        <p:nvSpPr>
          <p:cNvPr id="30" name="Shape 28"/>
          <p:cNvSpPr/>
          <p:nvPr/>
        </p:nvSpPr>
        <p:spPr>
          <a:xfrm>
            <a:off x="4800600" y="1536700"/>
            <a:ext cx="713232" cy="279400"/>
          </a:xfrm>
          <a:prstGeom prst="rect">
            <a:avLst/>
          </a:prstGeom>
          <a:solidFill>
            <a:srgbClr val="1E3A5F"/>
          </a:solidFill>
          <a:ln w="12700">
            <a:solidFill>
              <a:srgbClr val="1E3A5F"/>
            </a:solidFill>
            <a:prstDash val="solid"/>
          </a:ln>
        </p:spPr>
        <p:txBody>
          <a:bodyPr/>
          <a:lstStyle/>
          <a:p>
            <a:endParaRPr lang="en-US"/>
          </a:p>
        </p:txBody>
      </p:sp>
      <p:sp>
        <p:nvSpPr>
          <p:cNvPr id="31" name="Text 29"/>
          <p:cNvSpPr/>
          <p:nvPr/>
        </p:nvSpPr>
        <p:spPr>
          <a:xfrm>
            <a:off x="4800600" y="15367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32" name="Text 30"/>
          <p:cNvSpPr/>
          <p:nvPr/>
        </p:nvSpPr>
        <p:spPr>
          <a:xfrm>
            <a:off x="5605272" y="1587500"/>
            <a:ext cx="29718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Reads candidate payload</a:t>
            </a:r>
            <a:endParaRPr lang="en-US" sz="1400" dirty="0"/>
          </a:p>
        </p:txBody>
      </p:sp>
      <p:sp>
        <p:nvSpPr>
          <p:cNvPr id="33" name="Shape 31"/>
          <p:cNvSpPr/>
          <p:nvPr/>
        </p:nvSpPr>
        <p:spPr>
          <a:xfrm>
            <a:off x="4800600" y="1993900"/>
            <a:ext cx="713232" cy="279400"/>
          </a:xfrm>
          <a:prstGeom prst="rect">
            <a:avLst/>
          </a:prstGeom>
          <a:solidFill>
            <a:srgbClr val="1E3A5F"/>
          </a:solidFill>
          <a:ln w="12700">
            <a:solidFill>
              <a:srgbClr val="1E3A5F"/>
            </a:solidFill>
            <a:prstDash val="solid"/>
          </a:ln>
        </p:spPr>
        <p:txBody>
          <a:bodyPr/>
          <a:lstStyle/>
          <a:p>
            <a:endParaRPr lang="en-US"/>
          </a:p>
        </p:txBody>
      </p:sp>
      <p:sp>
        <p:nvSpPr>
          <p:cNvPr id="34" name="Text 32"/>
          <p:cNvSpPr/>
          <p:nvPr/>
        </p:nvSpPr>
        <p:spPr>
          <a:xfrm>
            <a:off x="4800600" y="19939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35" name="Text 33"/>
          <p:cNvSpPr/>
          <p:nvPr/>
        </p:nvSpPr>
        <p:spPr>
          <a:xfrm>
            <a:off x="5605272" y="2044700"/>
            <a:ext cx="29718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Reasons about evidence</a:t>
            </a:r>
            <a:endParaRPr lang="en-US" sz="1400" dirty="0"/>
          </a:p>
        </p:txBody>
      </p:sp>
      <p:sp>
        <p:nvSpPr>
          <p:cNvPr id="36" name="Shape 34"/>
          <p:cNvSpPr/>
          <p:nvPr/>
        </p:nvSpPr>
        <p:spPr>
          <a:xfrm>
            <a:off x="4800600" y="2451100"/>
            <a:ext cx="713232" cy="279400"/>
          </a:xfrm>
          <a:prstGeom prst="rect">
            <a:avLst/>
          </a:prstGeom>
          <a:solidFill>
            <a:srgbClr val="1E3A5F"/>
          </a:solidFill>
          <a:ln w="12700">
            <a:solidFill>
              <a:srgbClr val="1E3A5F"/>
            </a:solidFill>
            <a:prstDash val="solid"/>
          </a:ln>
        </p:spPr>
        <p:txBody>
          <a:bodyPr/>
          <a:lstStyle/>
          <a:p>
            <a:endParaRPr lang="en-US"/>
          </a:p>
        </p:txBody>
      </p:sp>
      <p:sp>
        <p:nvSpPr>
          <p:cNvPr id="37" name="Text 35"/>
          <p:cNvSpPr/>
          <p:nvPr/>
        </p:nvSpPr>
        <p:spPr>
          <a:xfrm>
            <a:off x="4800600" y="24511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38" name="Text 36"/>
          <p:cNvSpPr/>
          <p:nvPr/>
        </p:nvSpPr>
        <p:spPr>
          <a:xfrm>
            <a:off x="5605272" y="2501900"/>
            <a:ext cx="29718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Writes its own hypothesis</a:t>
            </a:r>
            <a:endParaRPr lang="en-US" sz="1400" dirty="0"/>
          </a:p>
        </p:txBody>
      </p:sp>
      <p:sp>
        <p:nvSpPr>
          <p:cNvPr id="39" name="Shape 37"/>
          <p:cNvSpPr/>
          <p:nvPr/>
        </p:nvSpPr>
        <p:spPr>
          <a:xfrm>
            <a:off x="4800600" y="2908300"/>
            <a:ext cx="713232" cy="279400"/>
          </a:xfrm>
          <a:prstGeom prst="rect">
            <a:avLst/>
          </a:prstGeom>
          <a:solidFill>
            <a:srgbClr val="C5A030"/>
          </a:solidFill>
          <a:ln w="12700">
            <a:solidFill>
              <a:srgbClr val="C5A030"/>
            </a:solidFill>
            <a:prstDash val="solid"/>
          </a:ln>
        </p:spPr>
        <p:txBody>
          <a:bodyPr/>
          <a:lstStyle/>
          <a:p>
            <a:endParaRPr lang="en-US"/>
          </a:p>
        </p:txBody>
      </p:sp>
      <p:sp>
        <p:nvSpPr>
          <p:cNvPr id="40" name="Text 38"/>
          <p:cNvSpPr/>
          <p:nvPr/>
        </p:nvSpPr>
        <p:spPr>
          <a:xfrm>
            <a:off x="4800600" y="2908300"/>
            <a:ext cx="713232" cy="279400"/>
          </a:xfrm>
          <a:prstGeom prst="rect">
            <a:avLst/>
          </a:prstGeom>
          <a:noFill/>
          <a:ln/>
        </p:spPr>
        <p:txBody>
          <a:bodyPr wrap="square" lIns="0" tIns="0" rIns="0" bIns="0" rtlCol="0" anchor="ctr"/>
          <a:lstStyle/>
          <a:p>
            <a:pPr marL="0" indent="0" algn="ctr">
              <a:buNone/>
            </a:pPr>
            <a:r>
              <a:rPr lang="en-US" sz="1400" b="1" dirty="0">
                <a:solidFill>
                  <a:srgbClr val="0F2036"/>
                </a:solidFill>
                <a:latin typeface="Calibri" pitchFamily="34" charset="0"/>
                <a:ea typeface="Calibri" pitchFamily="34" charset="-122"/>
                <a:cs typeface="Calibri" pitchFamily="34" charset="-120"/>
              </a:rPr>
              <a:t>AI!</a:t>
            </a:r>
            <a:endParaRPr lang="en-US" sz="1400" dirty="0"/>
          </a:p>
        </p:txBody>
      </p:sp>
      <p:sp>
        <p:nvSpPr>
          <p:cNvPr id="41" name="Text 39"/>
          <p:cNvSpPr/>
          <p:nvPr/>
        </p:nvSpPr>
        <p:spPr>
          <a:xfrm>
            <a:off x="5605272" y="2959100"/>
            <a:ext cx="29718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Decides: Apply / Defer / Reject</a:t>
            </a:r>
            <a:endParaRPr lang="en-US" sz="1400" dirty="0"/>
          </a:p>
        </p:txBody>
      </p:sp>
      <p:sp>
        <p:nvSpPr>
          <p:cNvPr id="42" name="Shape 40"/>
          <p:cNvSpPr/>
          <p:nvPr/>
        </p:nvSpPr>
        <p:spPr>
          <a:xfrm>
            <a:off x="4800600" y="3365500"/>
            <a:ext cx="713232" cy="279400"/>
          </a:xfrm>
          <a:prstGeom prst="rect">
            <a:avLst/>
          </a:prstGeom>
          <a:solidFill>
            <a:srgbClr val="1E3A5F"/>
          </a:solidFill>
          <a:ln w="12700">
            <a:solidFill>
              <a:srgbClr val="1E3A5F"/>
            </a:solidFill>
            <a:prstDash val="solid"/>
          </a:ln>
        </p:spPr>
        <p:txBody>
          <a:bodyPr/>
          <a:lstStyle/>
          <a:p>
            <a:endParaRPr lang="en-US"/>
          </a:p>
        </p:txBody>
      </p:sp>
      <p:sp>
        <p:nvSpPr>
          <p:cNvPr id="43" name="Text 41"/>
          <p:cNvSpPr/>
          <p:nvPr/>
        </p:nvSpPr>
        <p:spPr>
          <a:xfrm>
            <a:off x="4800600" y="33655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44" name="Text 42"/>
          <p:cNvSpPr/>
          <p:nvPr/>
        </p:nvSpPr>
        <p:spPr>
          <a:xfrm>
            <a:off x="5605272" y="3416300"/>
            <a:ext cx="29718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Scores quality of own decision</a:t>
            </a:r>
            <a:endParaRPr lang="en-US" sz="1400" dirty="0"/>
          </a:p>
        </p:txBody>
      </p:sp>
      <p:sp>
        <p:nvSpPr>
          <p:cNvPr id="45" name="Shape 43"/>
          <p:cNvSpPr/>
          <p:nvPr/>
        </p:nvSpPr>
        <p:spPr>
          <a:xfrm>
            <a:off x="4800600" y="3822700"/>
            <a:ext cx="713232" cy="279400"/>
          </a:xfrm>
          <a:prstGeom prst="rect">
            <a:avLst/>
          </a:prstGeom>
          <a:solidFill>
            <a:srgbClr val="64748B"/>
          </a:solidFill>
          <a:ln w="12700">
            <a:solidFill>
              <a:srgbClr val="64748B"/>
            </a:solidFill>
            <a:prstDash val="solid"/>
          </a:ln>
        </p:spPr>
        <p:txBody>
          <a:bodyPr/>
          <a:lstStyle/>
          <a:p>
            <a:endParaRPr lang="en-US"/>
          </a:p>
        </p:txBody>
      </p:sp>
      <p:sp>
        <p:nvSpPr>
          <p:cNvPr id="46" name="Text 44"/>
          <p:cNvSpPr/>
          <p:nvPr/>
        </p:nvSpPr>
        <p:spPr>
          <a:xfrm>
            <a:off x="4800600" y="3822700"/>
            <a:ext cx="713232" cy="2794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LOG</a:t>
            </a:r>
            <a:endParaRPr lang="en-US" sz="1400" dirty="0"/>
          </a:p>
        </p:txBody>
      </p:sp>
      <p:sp>
        <p:nvSpPr>
          <p:cNvPr id="47" name="Text 45"/>
          <p:cNvSpPr/>
          <p:nvPr/>
        </p:nvSpPr>
        <p:spPr>
          <a:xfrm>
            <a:off x="5605272" y="3873500"/>
            <a:ext cx="2971800" cy="22860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Logs — but acts on nothing</a:t>
            </a:r>
            <a:endParaRPr lang="en-US" sz="1400" dirty="0"/>
          </a:p>
        </p:txBody>
      </p:sp>
      <p:sp>
        <p:nvSpPr>
          <p:cNvPr id="48" name="Text 46"/>
          <p:cNvSpPr/>
          <p:nvPr/>
        </p:nvSpPr>
        <p:spPr>
          <a:xfrm>
            <a:off x="4754880" y="4368800"/>
            <a:ext cx="3840480" cy="50800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AI makes decisions — but only in shadow.</a:t>
            </a:r>
            <a:endParaRPr lang="en-US" sz="1400" dirty="0"/>
          </a:p>
          <a:p>
            <a:pPr marL="0" indent="0">
              <a:buNone/>
            </a:pPr>
            <a:r>
              <a:rPr lang="en-US" sz="1400" b="1" dirty="0">
                <a:solidFill>
                  <a:srgbClr val="C5A030"/>
                </a:solidFill>
                <a:latin typeface="Calibri" pitchFamily="34" charset="0"/>
                <a:ea typeface="Calibri" pitchFamily="34" charset="-122"/>
                <a:cs typeface="Calibri" pitchFamily="34" charset="-120"/>
              </a:rPr>
              <a:t>Nothing touches live config without human approval.</a:t>
            </a:r>
            <a:endParaRPr lang="en-US" sz="1400" dirty="0"/>
          </a:p>
        </p:txBody>
      </p:sp>
    </p:spTree>
    <p:extLst>
      <p:ext uri="{BB962C8B-B14F-4D97-AF65-F5344CB8AC3E}">
        <p14:creationId xmlns:p14="http://schemas.microsoft.com/office/powerpoint/2010/main" val="3002929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DESIGN PHILOSOPHY</a:t>
            </a:r>
            <a:endParaRPr lang="en-US" sz="800" dirty="0"/>
          </a:p>
        </p:txBody>
      </p:sp>
      <p:sp>
        <p:nvSpPr>
          <p:cNvPr id="3" name="Text 1"/>
          <p:cNvSpPr/>
          <p:nvPr/>
        </p:nvSpPr>
        <p:spPr>
          <a:xfrm>
            <a:off x="411480" y="475488"/>
            <a:ext cx="8321040" cy="868680"/>
          </a:xfrm>
          <a:prstGeom prst="rect">
            <a:avLst/>
          </a:prstGeom>
          <a:noFill/>
          <a:ln/>
        </p:spPr>
        <p:txBody>
          <a:bodyPr wrap="square" lIns="0" tIns="0" rIns="0" bIns="0" rtlCol="0" anchor="ctr"/>
          <a:lstStyle/>
          <a:p>
            <a:pPr marL="0" indent="0">
              <a:buNone/>
            </a:pPr>
            <a:r>
              <a:rPr lang="en-US" sz="2000" b="1" dirty="0">
                <a:solidFill>
                  <a:srgbClr val="1E3A5F"/>
                </a:solidFill>
                <a:latin typeface="Georgia" pitchFamily="34" charset="0"/>
                <a:ea typeface="Georgia" pitchFamily="34" charset="-122"/>
                <a:cs typeface="Georgia" pitchFamily="34" charset="-120"/>
              </a:rPr>
              <a:t>Keeping humans in the loop isn't a limitation.</a:t>
            </a:r>
            <a:endParaRPr lang="en-US" sz="2000" dirty="0"/>
          </a:p>
          <a:p>
            <a:pPr marL="0" indent="0">
              <a:buNone/>
            </a:pPr>
            <a:r>
              <a:rPr lang="en-US" sz="2000" b="1" dirty="0">
                <a:solidFill>
                  <a:srgbClr val="1E3A5F"/>
                </a:solidFill>
                <a:latin typeface="Georgia" pitchFamily="34" charset="0"/>
                <a:ea typeface="Georgia" pitchFamily="34" charset="-122"/>
                <a:cs typeface="Georgia" pitchFamily="34" charset="-120"/>
              </a:rPr>
              <a:t>It's the point.</a:t>
            </a:r>
            <a:endParaRPr lang="en-US" sz="2000" dirty="0"/>
          </a:p>
        </p:txBody>
      </p:sp>
      <p:sp>
        <p:nvSpPr>
          <p:cNvPr id="4" name="Shape 2"/>
          <p:cNvSpPr/>
          <p:nvPr/>
        </p:nvSpPr>
        <p:spPr>
          <a:xfrm>
            <a:off x="411480" y="1481328"/>
            <a:ext cx="8321040" cy="896112"/>
          </a:xfrm>
          <a:prstGeom prst="rect">
            <a:avLst/>
          </a:prstGeom>
          <a:solidFill>
            <a:srgbClr val="162E45"/>
          </a:solidFill>
          <a:ln w="12700">
            <a:solidFill>
              <a:srgbClr val="162E45"/>
            </a:solidFill>
            <a:prstDash val="solid"/>
          </a:ln>
        </p:spPr>
        <p:txBody>
          <a:bodyPr/>
          <a:lstStyle/>
          <a:p>
            <a:endParaRPr lang="en-US"/>
          </a:p>
        </p:txBody>
      </p:sp>
      <p:sp>
        <p:nvSpPr>
          <p:cNvPr id="5" name="Shape 3"/>
          <p:cNvSpPr/>
          <p:nvPr/>
        </p:nvSpPr>
        <p:spPr>
          <a:xfrm>
            <a:off x="411480" y="1481328"/>
            <a:ext cx="73152" cy="896112"/>
          </a:xfrm>
          <a:prstGeom prst="rect">
            <a:avLst/>
          </a:prstGeom>
          <a:solidFill>
            <a:srgbClr val="C5A030"/>
          </a:solidFill>
          <a:ln w="12700">
            <a:solidFill>
              <a:srgbClr val="C5A030"/>
            </a:solidFill>
            <a:prstDash val="solid"/>
          </a:ln>
        </p:spPr>
        <p:txBody>
          <a:bodyPr/>
          <a:lstStyle/>
          <a:p>
            <a:endParaRPr lang="en-US"/>
          </a:p>
        </p:txBody>
      </p:sp>
      <p:sp>
        <p:nvSpPr>
          <p:cNvPr id="6" name="Text 4"/>
          <p:cNvSpPr/>
          <p:nvPr/>
        </p:nvSpPr>
        <p:spPr>
          <a:xfrm>
            <a:off x="594360" y="1554480"/>
            <a:ext cx="7955280" cy="749808"/>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"Automated configuration drift with no accountability is how you end up with a Claude that's been optimized by the internet into something unrecognizable."</a:t>
            </a:r>
            <a:endParaRPr lang="en-US" sz="1400" dirty="0"/>
          </a:p>
        </p:txBody>
      </p:sp>
      <p:sp>
        <p:nvSpPr>
          <p:cNvPr id="7" name="Shape 5"/>
          <p:cNvSpPr/>
          <p:nvPr/>
        </p:nvSpPr>
        <p:spPr>
          <a:xfrm>
            <a:off x="411480" y="2523744"/>
            <a:ext cx="2651760" cy="2487168"/>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8" name="Shape 6"/>
          <p:cNvSpPr/>
          <p:nvPr/>
        </p:nvSpPr>
        <p:spPr>
          <a:xfrm>
            <a:off x="411480" y="2523744"/>
            <a:ext cx="2651760" cy="64008"/>
          </a:xfrm>
          <a:prstGeom prst="rect">
            <a:avLst/>
          </a:prstGeom>
          <a:solidFill>
            <a:srgbClr val="C5A030"/>
          </a:solidFill>
          <a:ln w="12700">
            <a:solidFill>
              <a:srgbClr val="C5A030"/>
            </a:solidFill>
            <a:prstDash val="solid"/>
          </a:ln>
        </p:spPr>
        <p:txBody>
          <a:bodyPr/>
          <a:lstStyle/>
          <a:p>
            <a:endParaRPr lang="en-US"/>
          </a:p>
        </p:txBody>
      </p:sp>
      <p:sp>
        <p:nvSpPr>
          <p:cNvPr id="9" name="Shape 7"/>
          <p:cNvSpPr/>
          <p:nvPr/>
        </p:nvSpPr>
        <p:spPr>
          <a:xfrm>
            <a:off x="1325880" y="2651760"/>
            <a:ext cx="822960" cy="822960"/>
          </a:xfrm>
          <a:prstGeom prst="ellipse">
            <a:avLst/>
          </a:prstGeom>
          <a:solidFill>
            <a:srgbClr val="1E3A5F"/>
          </a:solidFill>
          <a:ln w="12700">
            <a:solidFill>
              <a:srgbClr val="1E3A5F"/>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1490472" y="2761488"/>
            <a:ext cx="493776" cy="493776"/>
          </a:xfrm>
          <a:prstGeom prst="rect">
            <a:avLst/>
          </a:prstGeom>
        </p:spPr>
      </p:pic>
      <p:sp>
        <p:nvSpPr>
          <p:cNvPr id="11" name="Text 8"/>
          <p:cNvSpPr/>
          <p:nvPr/>
        </p:nvSpPr>
        <p:spPr>
          <a:xfrm>
            <a:off x="548640" y="3497072"/>
            <a:ext cx="2377440" cy="310896"/>
          </a:xfrm>
          <a:prstGeom prst="rect">
            <a:avLst/>
          </a:prstGeom>
          <a:noFill/>
          <a:ln/>
        </p:spPr>
        <p:txBody>
          <a:bodyPr wrap="square" lIns="0" tIns="0" rIns="0" bIns="0" rtlCol="0" anchor="ctr"/>
          <a:lstStyle/>
          <a:p>
            <a:pPr marL="0" indent="0" algn="ctr">
              <a:buNone/>
            </a:pPr>
            <a:r>
              <a:rPr lang="en-US" sz="1400" b="1" dirty="0">
                <a:solidFill>
                  <a:srgbClr val="1E3A5F"/>
                </a:solidFill>
                <a:latin typeface="Calibri" pitchFamily="34" charset="0"/>
                <a:ea typeface="Calibri" pitchFamily="34" charset="-122"/>
                <a:cs typeface="Calibri" pitchFamily="34" charset="-120"/>
              </a:rPr>
              <a:t>Governance</a:t>
            </a:r>
            <a:endParaRPr lang="en-US" sz="1400" dirty="0"/>
          </a:p>
        </p:txBody>
      </p:sp>
      <p:sp>
        <p:nvSpPr>
          <p:cNvPr id="12" name="Text 9"/>
          <p:cNvSpPr/>
          <p:nvPr/>
        </p:nvSpPr>
        <p:spPr>
          <a:xfrm>
            <a:off x="548640" y="3844544"/>
            <a:ext cx="2377440" cy="111760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Every change has an author, a rationale, and a date. When something goes wrong, you know exactly why — and who approved it.</a:t>
            </a:r>
            <a:endParaRPr lang="en-US" sz="1400" dirty="0"/>
          </a:p>
        </p:txBody>
      </p:sp>
      <p:sp>
        <p:nvSpPr>
          <p:cNvPr id="13" name="Shape 10"/>
          <p:cNvSpPr/>
          <p:nvPr/>
        </p:nvSpPr>
        <p:spPr>
          <a:xfrm>
            <a:off x="3246120" y="2523744"/>
            <a:ext cx="2651760" cy="2487168"/>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14" name="Shape 11"/>
          <p:cNvSpPr/>
          <p:nvPr/>
        </p:nvSpPr>
        <p:spPr>
          <a:xfrm>
            <a:off x="3246120" y="2523744"/>
            <a:ext cx="2651760" cy="64008"/>
          </a:xfrm>
          <a:prstGeom prst="rect">
            <a:avLst/>
          </a:prstGeom>
          <a:solidFill>
            <a:srgbClr val="C5A030"/>
          </a:solidFill>
          <a:ln w="12700">
            <a:solidFill>
              <a:srgbClr val="C5A030"/>
            </a:solidFill>
            <a:prstDash val="solid"/>
          </a:ln>
        </p:spPr>
        <p:txBody>
          <a:bodyPr/>
          <a:lstStyle/>
          <a:p>
            <a:endParaRPr lang="en-US"/>
          </a:p>
        </p:txBody>
      </p:sp>
      <p:sp>
        <p:nvSpPr>
          <p:cNvPr id="15" name="Shape 12"/>
          <p:cNvSpPr/>
          <p:nvPr/>
        </p:nvSpPr>
        <p:spPr>
          <a:xfrm>
            <a:off x="4160520" y="2651760"/>
            <a:ext cx="822960" cy="822960"/>
          </a:xfrm>
          <a:prstGeom prst="ellipse">
            <a:avLst/>
          </a:prstGeom>
          <a:solidFill>
            <a:srgbClr val="1E3A5F"/>
          </a:solidFill>
          <a:ln w="12700">
            <a:solidFill>
              <a:srgbClr val="1E3A5F"/>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325112" y="2761488"/>
            <a:ext cx="493776" cy="493776"/>
          </a:xfrm>
          <a:prstGeom prst="rect">
            <a:avLst/>
          </a:prstGeom>
        </p:spPr>
      </p:pic>
      <p:sp>
        <p:nvSpPr>
          <p:cNvPr id="17" name="Text 13"/>
          <p:cNvSpPr/>
          <p:nvPr/>
        </p:nvSpPr>
        <p:spPr>
          <a:xfrm>
            <a:off x="3383280" y="3497072"/>
            <a:ext cx="2377440" cy="310896"/>
          </a:xfrm>
          <a:prstGeom prst="rect">
            <a:avLst/>
          </a:prstGeom>
          <a:noFill/>
          <a:ln/>
        </p:spPr>
        <p:txBody>
          <a:bodyPr wrap="square" lIns="0" tIns="0" rIns="0" bIns="0" rtlCol="0" anchor="ctr"/>
          <a:lstStyle/>
          <a:p>
            <a:pPr marL="0" indent="0" algn="ctr">
              <a:buNone/>
            </a:pPr>
            <a:r>
              <a:rPr lang="en-US" sz="1400" b="1" dirty="0">
                <a:solidFill>
                  <a:srgbClr val="1E3A5F"/>
                </a:solidFill>
                <a:latin typeface="Calibri" pitchFamily="34" charset="0"/>
                <a:ea typeface="Calibri" pitchFamily="34" charset="-122"/>
                <a:cs typeface="Calibri" pitchFamily="34" charset="-120"/>
              </a:rPr>
              <a:t>Judgment</a:t>
            </a:r>
            <a:endParaRPr lang="en-US" sz="1400" dirty="0"/>
          </a:p>
        </p:txBody>
      </p:sp>
      <p:sp>
        <p:nvSpPr>
          <p:cNvPr id="18" name="Text 14"/>
          <p:cNvSpPr/>
          <p:nvPr/>
        </p:nvSpPr>
        <p:spPr>
          <a:xfrm>
            <a:off x="3383280" y="3844544"/>
            <a:ext cx="2377440" cy="111760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AI can surface evidence. It cannot weigh organizational context, fiduciary obligation, or whether a Reddit-validated change is right for a regulated firm.</a:t>
            </a:r>
            <a:endParaRPr lang="en-US" sz="1400" dirty="0"/>
          </a:p>
        </p:txBody>
      </p:sp>
      <p:sp>
        <p:nvSpPr>
          <p:cNvPr id="19" name="Shape 15"/>
          <p:cNvSpPr/>
          <p:nvPr/>
        </p:nvSpPr>
        <p:spPr>
          <a:xfrm>
            <a:off x="6080760" y="2523744"/>
            <a:ext cx="2651760" cy="2487168"/>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6"/>
          <p:cNvSpPr/>
          <p:nvPr/>
        </p:nvSpPr>
        <p:spPr>
          <a:xfrm>
            <a:off x="6080760" y="2523744"/>
            <a:ext cx="2651760" cy="64008"/>
          </a:xfrm>
          <a:prstGeom prst="rect">
            <a:avLst/>
          </a:prstGeom>
          <a:solidFill>
            <a:srgbClr val="C5A030"/>
          </a:solidFill>
          <a:ln w="12700">
            <a:solidFill>
              <a:srgbClr val="C5A030"/>
            </a:solidFill>
            <a:prstDash val="solid"/>
          </a:ln>
        </p:spPr>
        <p:txBody>
          <a:bodyPr/>
          <a:lstStyle/>
          <a:p>
            <a:endParaRPr lang="en-US"/>
          </a:p>
        </p:txBody>
      </p:sp>
      <p:sp>
        <p:nvSpPr>
          <p:cNvPr id="21" name="Shape 17"/>
          <p:cNvSpPr/>
          <p:nvPr/>
        </p:nvSpPr>
        <p:spPr>
          <a:xfrm>
            <a:off x="6995160" y="2651760"/>
            <a:ext cx="822960" cy="822960"/>
          </a:xfrm>
          <a:prstGeom prst="ellipse">
            <a:avLst/>
          </a:prstGeom>
          <a:solidFill>
            <a:srgbClr val="1E3A5F"/>
          </a:solidFill>
          <a:ln w="12700">
            <a:solidFill>
              <a:srgbClr val="1E3A5F"/>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7159752" y="2761488"/>
            <a:ext cx="493776" cy="493776"/>
          </a:xfrm>
          <a:prstGeom prst="rect">
            <a:avLst/>
          </a:prstGeom>
        </p:spPr>
      </p:pic>
      <p:sp>
        <p:nvSpPr>
          <p:cNvPr id="23" name="Text 18"/>
          <p:cNvSpPr/>
          <p:nvPr/>
        </p:nvSpPr>
        <p:spPr>
          <a:xfrm>
            <a:off x="6217920" y="3497072"/>
            <a:ext cx="2377440" cy="310896"/>
          </a:xfrm>
          <a:prstGeom prst="rect">
            <a:avLst/>
          </a:prstGeom>
          <a:noFill/>
          <a:ln/>
        </p:spPr>
        <p:txBody>
          <a:bodyPr wrap="square" lIns="0" tIns="0" rIns="0" bIns="0" rtlCol="0" anchor="ctr"/>
          <a:lstStyle/>
          <a:p>
            <a:pPr marL="0" indent="0" algn="ctr">
              <a:buNone/>
            </a:pPr>
            <a:r>
              <a:rPr lang="en-US" sz="1400" b="1" dirty="0">
                <a:solidFill>
                  <a:srgbClr val="1E3A5F"/>
                </a:solidFill>
                <a:latin typeface="Calibri" pitchFamily="34" charset="0"/>
                <a:ea typeface="Calibri" pitchFamily="34" charset="-122"/>
                <a:cs typeface="Calibri" pitchFamily="34" charset="-120"/>
              </a:rPr>
              <a:t>Learning</a:t>
            </a:r>
            <a:endParaRPr lang="en-US" sz="1400" dirty="0"/>
          </a:p>
        </p:txBody>
      </p:sp>
      <p:sp>
        <p:nvSpPr>
          <p:cNvPr id="24" name="Text 19"/>
          <p:cNvSpPr/>
          <p:nvPr/>
        </p:nvSpPr>
        <p:spPr>
          <a:xfrm>
            <a:off x="6217920" y="3844544"/>
            <a:ext cx="2377440" cy="111760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The hypothesis written before applying a change becomes the baseline for evaluating it. That loop only works if a human is authoring the intent.</a:t>
            </a:r>
            <a:endParaRPr lang="en-US" sz="1400" dirty="0"/>
          </a:p>
        </p:txBody>
      </p:sp>
    </p:spTree>
    <p:extLst>
      <p:ext uri="{BB962C8B-B14F-4D97-AF65-F5344CB8AC3E}">
        <p14:creationId xmlns:p14="http://schemas.microsoft.com/office/powerpoint/2010/main" val="1694808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BROADER LESSON</a:t>
            </a:r>
            <a:endParaRPr lang="en-US" sz="800" dirty="0"/>
          </a:p>
        </p:txBody>
      </p:sp>
      <p:sp>
        <p:nvSpPr>
          <p:cNvPr id="3" name="Text 1"/>
          <p:cNvSpPr/>
          <p:nvPr/>
        </p:nvSpPr>
        <p:spPr>
          <a:xfrm>
            <a:off x="411480" y="475488"/>
            <a:ext cx="8321040" cy="566928"/>
          </a:xfrm>
          <a:prstGeom prst="rect">
            <a:avLst/>
          </a:prstGeom>
          <a:noFill/>
          <a:ln/>
        </p:spPr>
        <p:txBody>
          <a:bodyPr wrap="square" lIns="0" tIns="0" rIns="0" bIns="0" rtlCol="0" anchor="ctr"/>
          <a:lstStyle/>
          <a:p>
            <a:pPr marL="0" indent="0">
              <a:buNone/>
            </a:pPr>
            <a:r>
              <a:rPr lang="en-US" sz="2200" b="1" dirty="0">
                <a:solidFill>
                  <a:srgbClr val="1E3A5F"/>
                </a:solidFill>
                <a:latin typeface="Georgia" pitchFamily="34" charset="0"/>
                <a:ea typeface="Georgia" pitchFamily="34" charset="-122"/>
                <a:cs typeface="Georgia" pitchFamily="34" charset="-120"/>
              </a:rPr>
              <a:t>Five things CLAIRE proved about using AI seriously at work.</a:t>
            </a:r>
            <a:endParaRPr lang="en-US" sz="2200" dirty="0"/>
          </a:p>
        </p:txBody>
      </p:sp>
      <p:sp>
        <p:nvSpPr>
          <p:cNvPr id="4" name="Shape 2"/>
          <p:cNvSpPr/>
          <p:nvPr/>
        </p:nvSpPr>
        <p:spPr>
          <a:xfrm>
            <a:off x="411480" y="1231900"/>
            <a:ext cx="4133088" cy="11430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411480" y="1231900"/>
            <a:ext cx="64008" cy="1143000"/>
          </a:xfrm>
          <a:prstGeom prst="rect">
            <a:avLst/>
          </a:prstGeom>
          <a:solidFill>
            <a:srgbClr val="C5A030"/>
          </a:solidFill>
          <a:ln w="12700">
            <a:solidFill>
              <a:srgbClr val="C5A030"/>
            </a:solidFill>
            <a:prstDash val="solid"/>
          </a:ln>
        </p:spPr>
        <p:txBody>
          <a:bodyPr/>
          <a:lstStyle/>
          <a:p>
            <a:endParaRPr lang="en-US"/>
          </a:p>
        </p:txBody>
      </p:sp>
      <p:sp>
        <p:nvSpPr>
          <p:cNvPr id="6" name="Text 4"/>
          <p:cNvSpPr/>
          <p:nvPr/>
        </p:nvSpPr>
        <p:spPr>
          <a:xfrm>
            <a:off x="594360" y="1346200"/>
            <a:ext cx="502920" cy="530352"/>
          </a:xfrm>
          <a:prstGeom prst="rect">
            <a:avLst/>
          </a:prstGeom>
          <a:noFill/>
          <a:ln/>
        </p:spPr>
        <p:txBody>
          <a:bodyPr wrap="square" lIns="0" tIns="0" rIns="0" bIns="0" rtlCol="0" anchor="ctr"/>
          <a:lstStyle/>
          <a:p>
            <a:pPr marL="0" indent="0">
              <a:buNone/>
            </a:pPr>
            <a:r>
              <a:rPr lang="en-US" sz="2200" b="1" dirty="0">
                <a:solidFill>
                  <a:srgbClr val="C5A030"/>
                </a:solidFill>
                <a:latin typeface="Georgia" pitchFamily="34" charset="0"/>
                <a:ea typeface="Georgia" pitchFamily="34" charset="-122"/>
                <a:cs typeface="Georgia" pitchFamily="34" charset="-120"/>
              </a:rPr>
              <a:t>01</a:t>
            </a:r>
            <a:endParaRPr lang="en-US" sz="2200" dirty="0"/>
          </a:p>
        </p:txBody>
      </p:sp>
      <p:sp>
        <p:nvSpPr>
          <p:cNvPr id="7" name="Text 5"/>
          <p:cNvSpPr/>
          <p:nvPr/>
        </p:nvSpPr>
        <p:spPr>
          <a:xfrm>
            <a:off x="1216152" y="1308100"/>
            <a:ext cx="3200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Configuration is the competitive moat</a:t>
            </a:r>
            <a:endParaRPr lang="en-US" sz="1400" dirty="0"/>
          </a:p>
        </p:txBody>
      </p:sp>
      <p:sp>
        <p:nvSpPr>
          <p:cNvPr id="8" name="Text 6"/>
          <p:cNvSpPr/>
          <p:nvPr/>
        </p:nvSpPr>
        <p:spPr>
          <a:xfrm>
            <a:off x="1216152" y="1600200"/>
            <a:ext cx="3200400" cy="736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The model is the same for everyone. How you configure it is not. That gap compounds over time.</a:t>
            </a:r>
            <a:endParaRPr lang="en-US" sz="1400" dirty="0"/>
          </a:p>
        </p:txBody>
      </p:sp>
      <p:sp>
        <p:nvSpPr>
          <p:cNvPr id="9" name="Shape 7"/>
          <p:cNvSpPr/>
          <p:nvPr/>
        </p:nvSpPr>
        <p:spPr>
          <a:xfrm>
            <a:off x="4727448" y="1231900"/>
            <a:ext cx="4133088" cy="11430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10" name="Shape 8"/>
          <p:cNvSpPr/>
          <p:nvPr/>
        </p:nvSpPr>
        <p:spPr>
          <a:xfrm>
            <a:off x="4727448" y="1231900"/>
            <a:ext cx="64008" cy="1143000"/>
          </a:xfrm>
          <a:prstGeom prst="rect">
            <a:avLst/>
          </a:prstGeom>
          <a:solidFill>
            <a:srgbClr val="C5A030"/>
          </a:solidFill>
          <a:ln w="12700">
            <a:solidFill>
              <a:srgbClr val="C5A030"/>
            </a:solidFill>
            <a:prstDash val="solid"/>
          </a:ln>
        </p:spPr>
        <p:txBody>
          <a:bodyPr/>
          <a:lstStyle/>
          <a:p>
            <a:endParaRPr lang="en-US"/>
          </a:p>
        </p:txBody>
      </p:sp>
      <p:sp>
        <p:nvSpPr>
          <p:cNvPr id="11" name="Text 9"/>
          <p:cNvSpPr/>
          <p:nvPr/>
        </p:nvSpPr>
        <p:spPr>
          <a:xfrm>
            <a:off x="4910328" y="1346200"/>
            <a:ext cx="502920" cy="530352"/>
          </a:xfrm>
          <a:prstGeom prst="rect">
            <a:avLst/>
          </a:prstGeom>
          <a:noFill/>
          <a:ln/>
        </p:spPr>
        <p:txBody>
          <a:bodyPr wrap="square" lIns="0" tIns="0" rIns="0" bIns="0" rtlCol="0" anchor="ctr"/>
          <a:lstStyle/>
          <a:p>
            <a:pPr marL="0" indent="0">
              <a:buNone/>
            </a:pPr>
            <a:r>
              <a:rPr lang="en-US" sz="2200" b="1" dirty="0">
                <a:solidFill>
                  <a:srgbClr val="C5A030"/>
                </a:solidFill>
                <a:latin typeface="Georgia" pitchFamily="34" charset="0"/>
                <a:ea typeface="Georgia" pitchFamily="34" charset="-122"/>
                <a:cs typeface="Georgia" pitchFamily="34" charset="-120"/>
              </a:rPr>
              <a:t>02</a:t>
            </a:r>
            <a:endParaRPr lang="en-US" sz="2200" dirty="0"/>
          </a:p>
        </p:txBody>
      </p:sp>
      <p:sp>
        <p:nvSpPr>
          <p:cNvPr id="12" name="Text 10"/>
          <p:cNvSpPr/>
          <p:nvPr/>
        </p:nvSpPr>
        <p:spPr>
          <a:xfrm>
            <a:off x="5532120" y="1308100"/>
            <a:ext cx="3200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AI learns from other AI users — if you let it</a:t>
            </a:r>
            <a:endParaRPr lang="en-US" sz="1400" dirty="0"/>
          </a:p>
        </p:txBody>
      </p:sp>
      <p:sp>
        <p:nvSpPr>
          <p:cNvPr id="13" name="Text 11"/>
          <p:cNvSpPr/>
          <p:nvPr/>
        </p:nvSpPr>
        <p:spPr>
          <a:xfrm>
            <a:off x="5532120" y="1600200"/>
            <a:ext cx="3200400" cy="736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Thousands of people document what works and fails every week. The insight is available. The question is whether you're reading it.</a:t>
            </a:r>
            <a:endParaRPr lang="en-US" sz="1400" dirty="0"/>
          </a:p>
        </p:txBody>
      </p:sp>
      <p:sp>
        <p:nvSpPr>
          <p:cNvPr id="14" name="Shape 12"/>
          <p:cNvSpPr/>
          <p:nvPr/>
        </p:nvSpPr>
        <p:spPr>
          <a:xfrm>
            <a:off x="411480" y="2476500"/>
            <a:ext cx="4133088" cy="11430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15" name="Shape 13"/>
          <p:cNvSpPr/>
          <p:nvPr/>
        </p:nvSpPr>
        <p:spPr>
          <a:xfrm>
            <a:off x="411480" y="2476500"/>
            <a:ext cx="64008" cy="1143000"/>
          </a:xfrm>
          <a:prstGeom prst="rect">
            <a:avLst/>
          </a:prstGeom>
          <a:solidFill>
            <a:srgbClr val="C5A030"/>
          </a:solidFill>
          <a:ln w="12700">
            <a:solidFill>
              <a:srgbClr val="C5A030"/>
            </a:solidFill>
            <a:prstDash val="solid"/>
          </a:ln>
        </p:spPr>
        <p:txBody>
          <a:bodyPr/>
          <a:lstStyle/>
          <a:p>
            <a:endParaRPr lang="en-US"/>
          </a:p>
        </p:txBody>
      </p:sp>
      <p:sp>
        <p:nvSpPr>
          <p:cNvPr id="16" name="Text 14"/>
          <p:cNvSpPr/>
          <p:nvPr/>
        </p:nvSpPr>
        <p:spPr>
          <a:xfrm>
            <a:off x="594360" y="2590800"/>
            <a:ext cx="502920" cy="530352"/>
          </a:xfrm>
          <a:prstGeom prst="rect">
            <a:avLst/>
          </a:prstGeom>
          <a:noFill/>
          <a:ln/>
        </p:spPr>
        <p:txBody>
          <a:bodyPr wrap="square" lIns="0" tIns="0" rIns="0" bIns="0" rtlCol="0" anchor="ctr"/>
          <a:lstStyle/>
          <a:p>
            <a:pPr marL="0" indent="0">
              <a:buNone/>
            </a:pPr>
            <a:r>
              <a:rPr lang="en-US" sz="2200" b="1" dirty="0">
                <a:solidFill>
                  <a:srgbClr val="C5A030"/>
                </a:solidFill>
                <a:latin typeface="Georgia" pitchFamily="34" charset="0"/>
                <a:ea typeface="Georgia" pitchFamily="34" charset="-122"/>
                <a:cs typeface="Georgia" pitchFamily="34" charset="-120"/>
              </a:rPr>
              <a:t>03</a:t>
            </a:r>
            <a:endParaRPr lang="en-US" sz="2200" dirty="0"/>
          </a:p>
        </p:txBody>
      </p:sp>
      <p:sp>
        <p:nvSpPr>
          <p:cNvPr id="17" name="Text 15"/>
          <p:cNvSpPr/>
          <p:nvPr/>
        </p:nvSpPr>
        <p:spPr>
          <a:xfrm>
            <a:off x="1216152" y="2552700"/>
            <a:ext cx="3200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Automation does not equal autonomy</a:t>
            </a:r>
            <a:endParaRPr lang="en-US" sz="1400" dirty="0"/>
          </a:p>
        </p:txBody>
      </p:sp>
      <p:sp>
        <p:nvSpPr>
          <p:cNvPr id="18" name="Text 16"/>
          <p:cNvSpPr/>
          <p:nvPr/>
        </p:nvSpPr>
        <p:spPr>
          <a:xfrm>
            <a:off x="1216152" y="2844800"/>
            <a:ext cx="3200400" cy="736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 pipeline that does the research work is not the same as one that makes the decisions. The distinction matters for governance and trust.</a:t>
            </a:r>
            <a:endParaRPr lang="en-US" sz="1400" dirty="0"/>
          </a:p>
        </p:txBody>
      </p:sp>
      <p:sp>
        <p:nvSpPr>
          <p:cNvPr id="19" name="Shape 17"/>
          <p:cNvSpPr/>
          <p:nvPr/>
        </p:nvSpPr>
        <p:spPr>
          <a:xfrm>
            <a:off x="4727448" y="2476500"/>
            <a:ext cx="4133088" cy="1143000"/>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8"/>
          <p:cNvSpPr/>
          <p:nvPr/>
        </p:nvSpPr>
        <p:spPr>
          <a:xfrm>
            <a:off x="4727448" y="2476500"/>
            <a:ext cx="64008" cy="1143000"/>
          </a:xfrm>
          <a:prstGeom prst="rect">
            <a:avLst/>
          </a:prstGeom>
          <a:solidFill>
            <a:srgbClr val="C5A030"/>
          </a:solidFill>
          <a:ln w="12700">
            <a:solidFill>
              <a:srgbClr val="C5A030"/>
            </a:solidFill>
            <a:prstDash val="solid"/>
          </a:ln>
        </p:spPr>
        <p:txBody>
          <a:bodyPr/>
          <a:lstStyle/>
          <a:p>
            <a:endParaRPr lang="en-US"/>
          </a:p>
        </p:txBody>
      </p:sp>
      <p:sp>
        <p:nvSpPr>
          <p:cNvPr id="21" name="Text 19"/>
          <p:cNvSpPr/>
          <p:nvPr/>
        </p:nvSpPr>
        <p:spPr>
          <a:xfrm>
            <a:off x="4910328" y="2590800"/>
            <a:ext cx="502920" cy="530352"/>
          </a:xfrm>
          <a:prstGeom prst="rect">
            <a:avLst/>
          </a:prstGeom>
          <a:noFill/>
          <a:ln/>
        </p:spPr>
        <p:txBody>
          <a:bodyPr wrap="square" lIns="0" tIns="0" rIns="0" bIns="0" rtlCol="0" anchor="ctr"/>
          <a:lstStyle/>
          <a:p>
            <a:pPr marL="0" indent="0">
              <a:buNone/>
            </a:pPr>
            <a:r>
              <a:rPr lang="en-US" sz="2200" b="1" dirty="0">
                <a:solidFill>
                  <a:srgbClr val="C5A030"/>
                </a:solidFill>
                <a:latin typeface="Georgia" pitchFamily="34" charset="0"/>
                <a:ea typeface="Georgia" pitchFamily="34" charset="-122"/>
                <a:cs typeface="Georgia" pitchFamily="34" charset="-120"/>
              </a:rPr>
              <a:t>04</a:t>
            </a:r>
            <a:endParaRPr lang="en-US" sz="2200" dirty="0"/>
          </a:p>
        </p:txBody>
      </p:sp>
      <p:sp>
        <p:nvSpPr>
          <p:cNvPr id="22" name="Text 20"/>
          <p:cNvSpPr/>
          <p:nvPr/>
        </p:nvSpPr>
        <p:spPr>
          <a:xfrm>
            <a:off x="5532120" y="2552700"/>
            <a:ext cx="3200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The hypothesis is the product</a:t>
            </a:r>
            <a:endParaRPr lang="en-US" sz="1400" dirty="0"/>
          </a:p>
        </p:txBody>
      </p:sp>
      <p:sp>
        <p:nvSpPr>
          <p:cNvPr id="23" name="Text 21"/>
          <p:cNvSpPr/>
          <p:nvPr/>
        </p:nvSpPr>
        <p:spPr>
          <a:xfrm>
            <a:off x="5532120" y="2844800"/>
            <a:ext cx="3200400" cy="7366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The most durable output isn't the config change — it's the written, testable rationale attached to it.</a:t>
            </a:r>
            <a:endParaRPr lang="en-US" sz="1400" dirty="0"/>
          </a:p>
        </p:txBody>
      </p:sp>
      <p:sp>
        <p:nvSpPr>
          <p:cNvPr id="24" name="Shape 22"/>
          <p:cNvSpPr/>
          <p:nvPr/>
        </p:nvSpPr>
        <p:spPr>
          <a:xfrm>
            <a:off x="411480" y="3721100"/>
            <a:ext cx="8321040" cy="749808"/>
          </a:xfrm>
          <a:prstGeom prst="rect">
            <a:avLst/>
          </a:prstGeom>
          <a:solidFill>
            <a:srgbClr val="1E3A5F"/>
          </a:solidFill>
          <a:ln w="12700">
            <a:solidFill>
              <a:srgbClr val="1E3A5F"/>
            </a:solidFill>
            <a:prstDash val="solid"/>
          </a:ln>
        </p:spPr>
        <p:txBody>
          <a:bodyPr/>
          <a:lstStyle/>
          <a:p>
            <a:endParaRPr lang="en-US"/>
          </a:p>
        </p:txBody>
      </p:sp>
      <p:sp>
        <p:nvSpPr>
          <p:cNvPr id="25" name="Shape 23"/>
          <p:cNvSpPr/>
          <p:nvPr/>
        </p:nvSpPr>
        <p:spPr>
          <a:xfrm>
            <a:off x="411480" y="3721100"/>
            <a:ext cx="64008" cy="749808"/>
          </a:xfrm>
          <a:prstGeom prst="rect">
            <a:avLst/>
          </a:prstGeom>
          <a:solidFill>
            <a:srgbClr val="C5A030"/>
          </a:solidFill>
          <a:ln w="12700">
            <a:solidFill>
              <a:srgbClr val="C5A030"/>
            </a:solidFill>
            <a:prstDash val="solid"/>
          </a:ln>
        </p:spPr>
        <p:txBody>
          <a:bodyPr/>
          <a:lstStyle/>
          <a:p>
            <a:endParaRPr lang="en-US"/>
          </a:p>
        </p:txBody>
      </p:sp>
      <p:sp>
        <p:nvSpPr>
          <p:cNvPr id="26" name="Text 24"/>
          <p:cNvSpPr/>
          <p:nvPr/>
        </p:nvSpPr>
        <p:spPr>
          <a:xfrm>
            <a:off x="566928" y="3848100"/>
            <a:ext cx="548640" cy="475488"/>
          </a:xfrm>
          <a:prstGeom prst="rect">
            <a:avLst/>
          </a:prstGeom>
          <a:noFill/>
          <a:ln/>
        </p:spPr>
        <p:txBody>
          <a:bodyPr wrap="square" lIns="0" tIns="0" rIns="0" bIns="0" rtlCol="0" anchor="ctr"/>
          <a:lstStyle/>
          <a:p>
            <a:pPr marL="0" indent="0">
              <a:buNone/>
            </a:pPr>
            <a:r>
              <a:rPr lang="en-US" sz="1400" b="1" dirty="0">
                <a:solidFill>
                  <a:srgbClr val="C5A030"/>
                </a:solidFill>
                <a:latin typeface="Georgia" pitchFamily="34" charset="0"/>
                <a:ea typeface="Georgia" pitchFamily="34" charset="-122"/>
                <a:cs typeface="Georgia" pitchFamily="34" charset="-120"/>
              </a:rPr>
              <a:t>05</a:t>
            </a:r>
            <a:endParaRPr lang="en-US" sz="1400" dirty="0"/>
          </a:p>
        </p:txBody>
      </p:sp>
      <p:sp>
        <p:nvSpPr>
          <p:cNvPr id="27" name="Text 25"/>
          <p:cNvSpPr/>
          <p:nvPr/>
        </p:nvSpPr>
        <p:spPr>
          <a:xfrm>
            <a:off x="1261872" y="3898900"/>
            <a:ext cx="7315200" cy="4114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Shadow before live — always  —  CLAIRE-A runs autonomous decisions against every candidate and acts on none. You don't deploy autonomous AI until you've watched it decide for months.</a:t>
            </a:r>
            <a:endParaRPr lang="en-US" sz="1400" dirty="0"/>
          </a:p>
        </p:txBody>
      </p:sp>
    </p:spTree>
    <p:extLst>
      <p:ext uri="{BB962C8B-B14F-4D97-AF65-F5344CB8AC3E}">
        <p14:creationId xmlns:p14="http://schemas.microsoft.com/office/powerpoint/2010/main" val="376253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036"/>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THE RECURSIVE DESIGN</a:t>
            </a:r>
            <a:endParaRPr lang="en-US" sz="800" dirty="0"/>
          </a:p>
        </p:txBody>
      </p:sp>
      <p:sp>
        <p:nvSpPr>
          <p:cNvPr id="3" name="Text 1"/>
          <p:cNvSpPr/>
          <p:nvPr/>
        </p:nvSpPr>
        <p:spPr>
          <a:xfrm>
            <a:off x="411480" y="475488"/>
            <a:ext cx="8321040" cy="777240"/>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CLAIRE's name is recursive on purpose.</a:t>
            </a:r>
            <a:endParaRPr lang="en-US" sz="2800" dirty="0"/>
          </a:p>
        </p:txBody>
      </p:sp>
      <p:sp>
        <p:nvSpPr>
          <p:cNvPr id="4" name="Shape 2"/>
          <p:cNvSpPr/>
          <p:nvPr/>
        </p:nvSpPr>
        <p:spPr>
          <a:xfrm>
            <a:off x="320040" y="1325880"/>
            <a:ext cx="1920240" cy="2606040"/>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868680" y="1463040"/>
            <a:ext cx="822960" cy="822960"/>
          </a:xfrm>
          <a:prstGeom prst="ellipse">
            <a:avLst/>
          </a:prstGeom>
          <a:solidFill>
            <a:srgbClr val="162E45"/>
          </a:solidFill>
          <a:ln w="12700">
            <a:solidFill>
              <a:srgbClr val="162E45"/>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33272" y="1572768"/>
            <a:ext cx="493776" cy="493776"/>
          </a:xfrm>
          <a:prstGeom prst="rect">
            <a:avLst/>
          </a:prstGeom>
        </p:spPr>
      </p:pic>
      <p:sp>
        <p:nvSpPr>
          <p:cNvPr id="7" name="Text 4"/>
          <p:cNvSpPr/>
          <p:nvPr/>
        </p:nvSpPr>
        <p:spPr>
          <a:xfrm>
            <a:off x="365760" y="2423160"/>
            <a:ext cx="182880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Community</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Signal</a:t>
            </a:r>
            <a:endParaRPr lang="en-US" sz="1400" dirty="0"/>
          </a:p>
        </p:txBody>
      </p:sp>
      <p:sp>
        <p:nvSpPr>
          <p:cNvPr id="8" name="Text 5"/>
          <p:cNvSpPr/>
          <p:nvPr/>
        </p:nvSpPr>
        <p:spPr>
          <a:xfrm>
            <a:off x="365760" y="2944368"/>
            <a:ext cx="1828800" cy="80467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Reddit · HN · dev.to</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discussions surface patterns</a:t>
            </a:r>
            <a:endParaRPr lang="en-US" sz="1400" dirty="0"/>
          </a:p>
        </p:txBody>
      </p:sp>
      <p:sp>
        <p:nvSpPr>
          <p:cNvPr id="9" name="Shape 6"/>
          <p:cNvSpPr/>
          <p:nvPr/>
        </p:nvSpPr>
        <p:spPr>
          <a:xfrm>
            <a:off x="2240280" y="2633472"/>
            <a:ext cx="256032" cy="0"/>
          </a:xfrm>
          <a:prstGeom prst="line">
            <a:avLst/>
          </a:prstGeom>
          <a:noFill/>
          <a:ln w="25400">
            <a:solidFill>
              <a:srgbClr val="C5A030"/>
            </a:solidFill>
            <a:prstDash val="solid"/>
          </a:ln>
        </p:spPr>
        <p:txBody>
          <a:bodyPr/>
          <a:lstStyle/>
          <a:p>
            <a:endParaRPr lang="en-US"/>
          </a:p>
        </p:txBody>
      </p:sp>
      <p:sp>
        <p:nvSpPr>
          <p:cNvPr id="10" name="Shape 7"/>
          <p:cNvSpPr/>
          <p:nvPr/>
        </p:nvSpPr>
        <p:spPr>
          <a:xfrm>
            <a:off x="2496312" y="1325880"/>
            <a:ext cx="1920240" cy="2606040"/>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3044952" y="1463040"/>
            <a:ext cx="822960" cy="822960"/>
          </a:xfrm>
          <a:prstGeom prst="ellipse">
            <a:avLst/>
          </a:prstGeom>
          <a:solidFill>
            <a:srgbClr val="162E45"/>
          </a:solidFill>
          <a:ln w="12700">
            <a:solidFill>
              <a:srgbClr val="162E45"/>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209544" y="1572768"/>
            <a:ext cx="493776" cy="493776"/>
          </a:xfrm>
          <a:prstGeom prst="rect">
            <a:avLst/>
          </a:prstGeom>
        </p:spPr>
      </p:pic>
      <p:sp>
        <p:nvSpPr>
          <p:cNvPr id="13" name="Text 9"/>
          <p:cNvSpPr/>
          <p:nvPr/>
        </p:nvSpPr>
        <p:spPr>
          <a:xfrm>
            <a:off x="2542032" y="2423160"/>
            <a:ext cx="182880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 Triage &amp;</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Synthesis</a:t>
            </a:r>
            <a:endParaRPr lang="en-US" sz="1400" dirty="0"/>
          </a:p>
        </p:txBody>
      </p:sp>
      <p:sp>
        <p:nvSpPr>
          <p:cNvPr id="14" name="Text 10"/>
          <p:cNvSpPr/>
          <p:nvPr/>
        </p:nvSpPr>
        <p:spPr>
          <a:xfrm>
            <a:off x="2542032" y="2944368"/>
            <a:ext cx="1828800" cy="80467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Signal scored, candidates</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generated per week</a:t>
            </a:r>
            <a:endParaRPr lang="en-US" sz="1400" dirty="0"/>
          </a:p>
        </p:txBody>
      </p:sp>
      <p:sp>
        <p:nvSpPr>
          <p:cNvPr id="15" name="Shape 11"/>
          <p:cNvSpPr/>
          <p:nvPr/>
        </p:nvSpPr>
        <p:spPr>
          <a:xfrm>
            <a:off x="4416552" y="2633472"/>
            <a:ext cx="256032" cy="0"/>
          </a:xfrm>
          <a:prstGeom prst="line">
            <a:avLst/>
          </a:prstGeom>
          <a:noFill/>
          <a:ln w="25400">
            <a:solidFill>
              <a:srgbClr val="C5A030"/>
            </a:solidFill>
            <a:prstDash val="solid"/>
          </a:ln>
        </p:spPr>
        <p:txBody>
          <a:bodyPr/>
          <a:lstStyle/>
          <a:p>
            <a:endParaRPr lang="en-US"/>
          </a:p>
        </p:txBody>
      </p:sp>
      <p:sp>
        <p:nvSpPr>
          <p:cNvPr id="16" name="Shape 12"/>
          <p:cNvSpPr/>
          <p:nvPr/>
        </p:nvSpPr>
        <p:spPr>
          <a:xfrm>
            <a:off x="4672584" y="1325880"/>
            <a:ext cx="1920240" cy="2606040"/>
          </a:xfrm>
          <a:prstGeom prst="rect">
            <a:avLst/>
          </a:prstGeom>
          <a:solidFill>
            <a:srgbClr val="C5A030"/>
          </a:solidFill>
          <a:ln w="12700">
            <a:solidFill>
              <a:srgbClr val="C5A030"/>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3"/>
          <p:cNvSpPr/>
          <p:nvPr/>
        </p:nvSpPr>
        <p:spPr>
          <a:xfrm>
            <a:off x="5221224" y="1463040"/>
            <a:ext cx="822960" cy="822960"/>
          </a:xfrm>
          <a:prstGeom prst="ellipse">
            <a:avLst/>
          </a:prstGeom>
          <a:solidFill>
            <a:srgbClr val="A8872A"/>
          </a:solidFill>
          <a:ln w="12700">
            <a:solidFill>
              <a:srgbClr val="A8872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385816" y="1572768"/>
            <a:ext cx="493776" cy="493776"/>
          </a:xfrm>
          <a:prstGeom prst="rect">
            <a:avLst/>
          </a:prstGeom>
        </p:spPr>
      </p:pic>
      <p:sp>
        <p:nvSpPr>
          <p:cNvPr id="19" name="Text 14"/>
          <p:cNvSpPr/>
          <p:nvPr/>
        </p:nvSpPr>
        <p:spPr>
          <a:xfrm>
            <a:off x="4718304" y="2423160"/>
            <a:ext cx="1828800" cy="475488"/>
          </a:xfrm>
          <a:prstGeom prst="rect">
            <a:avLst/>
          </a:prstGeom>
          <a:noFill/>
          <a:ln/>
        </p:spPr>
        <p:txBody>
          <a:bodyPr wrap="square" lIns="0" tIns="0" rIns="0" bIns="0" rtlCol="0" anchor="ctr"/>
          <a:lstStyle/>
          <a:p>
            <a:pPr marL="0" indent="0" algn="ctr">
              <a:buNone/>
            </a:pPr>
            <a:r>
              <a:rPr lang="en-US" sz="1400" b="1" dirty="0">
                <a:solidFill>
                  <a:srgbClr val="0F2036"/>
                </a:solidFill>
                <a:latin typeface="Calibri" pitchFamily="34" charset="0"/>
                <a:ea typeface="Calibri" pitchFamily="34" charset="-122"/>
                <a:cs typeface="Calibri" pitchFamily="34" charset="-120"/>
              </a:rPr>
              <a:t>Human</a:t>
            </a:r>
            <a:endParaRPr lang="en-US" sz="1400" dirty="0"/>
          </a:p>
          <a:p>
            <a:pPr marL="0" indent="0" algn="ctr">
              <a:buNone/>
            </a:pPr>
            <a:r>
              <a:rPr lang="en-US" sz="1400" b="1" dirty="0">
                <a:solidFill>
                  <a:srgbClr val="0F2036"/>
                </a:solidFill>
                <a:latin typeface="Calibri" pitchFamily="34" charset="0"/>
                <a:ea typeface="Calibri" pitchFamily="34" charset="-122"/>
                <a:cs typeface="Calibri" pitchFamily="34" charset="-120"/>
              </a:rPr>
              <a:t>Decision</a:t>
            </a:r>
            <a:endParaRPr lang="en-US" sz="1400" dirty="0"/>
          </a:p>
        </p:txBody>
      </p:sp>
      <p:sp>
        <p:nvSpPr>
          <p:cNvPr id="20" name="Text 15"/>
          <p:cNvSpPr/>
          <p:nvPr/>
        </p:nvSpPr>
        <p:spPr>
          <a:xfrm>
            <a:off x="4718304" y="2944368"/>
            <a:ext cx="1828800" cy="804672"/>
          </a:xfrm>
          <a:prstGeom prst="rect">
            <a:avLst/>
          </a:prstGeom>
          <a:noFill/>
          <a:ln/>
        </p:spPr>
        <p:txBody>
          <a:bodyPr wrap="square" lIns="0" tIns="0" rIns="0" bIns="0" rtlCol="0" anchor="ctr"/>
          <a:lstStyle/>
          <a:p>
            <a:pPr marL="0" indent="0" algn="ctr">
              <a:buNone/>
            </a:pPr>
            <a:r>
              <a:rPr lang="en-US" sz="1400" dirty="0">
                <a:solidFill>
                  <a:srgbClr val="0F2036"/>
                </a:solidFill>
                <a:latin typeface="Calibri" pitchFamily="34" charset="0"/>
                <a:ea typeface="Calibri" pitchFamily="34" charset="-122"/>
                <a:cs typeface="Calibri" pitchFamily="34" charset="-120"/>
              </a:rPr>
              <a:t>Review · Hypothesize</a:t>
            </a:r>
            <a:endParaRPr lang="en-US" sz="1400" dirty="0"/>
          </a:p>
          <a:p>
            <a:pPr marL="0" indent="0" algn="ctr">
              <a:buNone/>
            </a:pPr>
            <a:r>
              <a:rPr lang="en-US" sz="1400" dirty="0">
                <a:solidFill>
                  <a:srgbClr val="0F2036"/>
                </a:solidFill>
                <a:latin typeface="Calibri" pitchFamily="34" charset="0"/>
                <a:ea typeface="Calibri" pitchFamily="34" charset="-122"/>
                <a:cs typeface="Calibri" pitchFamily="34" charset="-120"/>
              </a:rPr>
              <a:t>Apply or defer each change</a:t>
            </a:r>
            <a:endParaRPr lang="en-US" sz="1400" dirty="0"/>
          </a:p>
        </p:txBody>
      </p:sp>
      <p:sp>
        <p:nvSpPr>
          <p:cNvPr id="21" name="Shape 16"/>
          <p:cNvSpPr/>
          <p:nvPr/>
        </p:nvSpPr>
        <p:spPr>
          <a:xfrm>
            <a:off x="6592824" y="2633472"/>
            <a:ext cx="256032" cy="0"/>
          </a:xfrm>
          <a:prstGeom prst="line">
            <a:avLst/>
          </a:prstGeom>
          <a:noFill/>
          <a:ln w="25400">
            <a:solidFill>
              <a:srgbClr val="C5A030"/>
            </a:solidFill>
            <a:prstDash val="solid"/>
          </a:ln>
        </p:spPr>
        <p:txBody>
          <a:bodyPr/>
          <a:lstStyle/>
          <a:p>
            <a:endParaRPr lang="en-US"/>
          </a:p>
        </p:txBody>
      </p:sp>
      <p:sp>
        <p:nvSpPr>
          <p:cNvPr id="22" name="Shape 17"/>
          <p:cNvSpPr/>
          <p:nvPr/>
        </p:nvSpPr>
        <p:spPr>
          <a:xfrm>
            <a:off x="6848856" y="1325880"/>
            <a:ext cx="1920240" cy="2606040"/>
          </a:xfrm>
          <a:prstGeom prst="rect">
            <a:avLst/>
          </a:prstGeom>
          <a:solidFill>
            <a:srgbClr val="1E3A5F"/>
          </a:solidFill>
          <a:ln w="12700">
            <a:solidFill>
              <a:srgbClr val="1E3A5F"/>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18"/>
          <p:cNvSpPr/>
          <p:nvPr/>
        </p:nvSpPr>
        <p:spPr>
          <a:xfrm>
            <a:off x="7397496" y="1463040"/>
            <a:ext cx="822960" cy="822960"/>
          </a:xfrm>
          <a:prstGeom prst="ellipse">
            <a:avLst/>
          </a:prstGeom>
          <a:solidFill>
            <a:srgbClr val="162E45"/>
          </a:solidFill>
          <a:ln w="12700">
            <a:solidFill>
              <a:srgbClr val="162E4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7562088" y="1572768"/>
            <a:ext cx="493776" cy="493776"/>
          </a:xfrm>
          <a:prstGeom prst="rect">
            <a:avLst/>
          </a:prstGeom>
        </p:spPr>
      </p:pic>
      <p:sp>
        <p:nvSpPr>
          <p:cNvPr id="25" name="Text 19"/>
          <p:cNvSpPr/>
          <p:nvPr/>
        </p:nvSpPr>
        <p:spPr>
          <a:xfrm>
            <a:off x="6894576" y="2423160"/>
            <a:ext cx="182880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Better</a:t>
            </a:r>
            <a:endParaRPr lang="en-US" sz="1400" dirty="0"/>
          </a:p>
          <a:p>
            <a:pPr marL="0" indent="0" algn="ctr">
              <a:buNone/>
            </a:pPr>
            <a:r>
              <a:rPr lang="en-US" sz="1400" b="1" dirty="0">
                <a:solidFill>
                  <a:srgbClr val="FFFFFF"/>
                </a:solidFill>
                <a:latin typeface="Calibri" pitchFamily="34" charset="0"/>
                <a:ea typeface="Calibri" pitchFamily="34" charset="-122"/>
                <a:cs typeface="Calibri" pitchFamily="34" charset="-120"/>
              </a:rPr>
              <a:t>Sessions</a:t>
            </a:r>
            <a:endParaRPr lang="en-US" sz="1400" dirty="0"/>
          </a:p>
        </p:txBody>
      </p:sp>
      <p:sp>
        <p:nvSpPr>
          <p:cNvPr id="26" name="Text 20"/>
          <p:cNvSpPr/>
          <p:nvPr/>
        </p:nvSpPr>
        <p:spPr>
          <a:xfrm>
            <a:off x="6894576" y="2944368"/>
            <a:ext cx="1828800" cy="804672"/>
          </a:xfrm>
          <a:prstGeom prst="rect">
            <a:avLst/>
          </a:prstGeom>
          <a:noFill/>
          <a:ln/>
        </p:spPr>
        <p:txBody>
          <a:bodyPr wrap="square" lIns="0" tIns="0" rIns="0" bIns="0" rtlCol="0" anchor="ctr"/>
          <a:lstStyle/>
          <a:p>
            <a:pPr marL="0" indent="0" algn="ctr">
              <a:buNone/>
            </a:pPr>
            <a:r>
              <a:rPr lang="en-US" sz="1400" dirty="0">
                <a:solidFill>
                  <a:srgbClr val="E2E8F0"/>
                </a:solidFill>
                <a:latin typeface="Calibri" pitchFamily="34" charset="0"/>
                <a:ea typeface="Calibri" pitchFamily="34" charset="-122"/>
                <a:cs typeface="Calibri" pitchFamily="34" charset="-120"/>
              </a:rPr>
              <a:t>Claude improves · better</a:t>
            </a:r>
            <a:endParaRPr lang="en-US" sz="1400" dirty="0"/>
          </a:p>
          <a:p>
            <a:pPr marL="0" indent="0" algn="ctr">
              <a:buNone/>
            </a:pPr>
            <a:r>
              <a:rPr lang="en-US" sz="1400" dirty="0">
                <a:solidFill>
                  <a:srgbClr val="E2E8F0"/>
                </a:solidFill>
                <a:latin typeface="Calibri" pitchFamily="34" charset="0"/>
                <a:ea typeface="Calibri" pitchFamily="34" charset="-122"/>
                <a:cs typeface="Calibri" pitchFamily="34" charset="-120"/>
              </a:rPr>
              <a:t>output → better signal</a:t>
            </a:r>
            <a:endParaRPr lang="en-US" sz="1400" dirty="0"/>
          </a:p>
        </p:txBody>
      </p:sp>
      <p:sp>
        <p:nvSpPr>
          <p:cNvPr id="27" name="Shape 21"/>
          <p:cNvSpPr/>
          <p:nvPr/>
        </p:nvSpPr>
        <p:spPr>
          <a:xfrm>
            <a:off x="320040" y="4069080"/>
            <a:ext cx="8385048" cy="384048"/>
          </a:xfrm>
          <a:prstGeom prst="rect">
            <a:avLst/>
          </a:prstGeom>
          <a:solidFill>
            <a:srgbClr val="162E45"/>
          </a:solidFill>
          <a:ln w="12700">
            <a:solidFill>
              <a:srgbClr val="162E45"/>
            </a:solidFill>
            <a:prstDash val="solid"/>
          </a:ln>
        </p:spPr>
        <p:txBody>
          <a:bodyPr/>
          <a:lstStyle/>
          <a:p>
            <a:endParaRPr lang="en-US"/>
          </a:p>
        </p:txBody>
      </p:sp>
      <p:sp>
        <p:nvSpPr>
          <p:cNvPr id="28" name="Shape 22"/>
          <p:cNvSpPr/>
          <p:nvPr/>
        </p:nvSpPr>
        <p:spPr>
          <a:xfrm>
            <a:off x="320040" y="4069080"/>
            <a:ext cx="8385048" cy="0"/>
          </a:xfrm>
          <a:prstGeom prst="line">
            <a:avLst/>
          </a:prstGeom>
          <a:noFill/>
          <a:ln w="12700">
            <a:solidFill>
              <a:srgbClr val="C5A030"/>
            </a:solidFill>
            <a:prstDash val="sysDash"/>
          </a:ln>
        </p:spPr>
        <p:txBody>
          <a:bodyPr/>
          <a:lstStyle/>
          <a:p>
            <a:endParaRPr lang="en-US"/>
          </a:p>
        </p:txBody>
      </p:sp>
      <p:sp>
        <p:nvSpPr>
          <p:cNvPr id="29" name="Text 23"/>
          <p:cNvSpPr/>
          <p:nvPr/>
        </p:nvSpPr>
        <p:spPr>
          <a:xfrm>
            <a:off x="411480" y="4133088"/>
            <a:ext cx="8229600" cy="256032"/>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 LOOP: Better sessions generate better signal → next week's candidates improve → Claude improves further →</a:t>
            </a:r>
            <a:endParaRPr lang="en-US" sz="1400" dirty="0"/>
          </a:p>
        </p:txBody>
      </p:sp>
      <p:sp>
        <p:nvSpPr>
          <p:cNvPr id="30" name="Shape 24"/>
          <p:cNvSpPr/>
          <p:nvPr/>
        </p:nvSpPr>
        <p:spPr>
          <a:xfrm>
            <a:off x="320040" y="4572000"/>
            <a:ext cx="8385048" cy="475488"/>
          </a:xfrm>
          <a:prstGeom prst="rect">
            <a:avLst/>
          </a:prstGeom>
          <a:solidFill>
            <a:srgbClr val="162E45"/>
          </a:solidFill>
          <a:ln w="12700">
            <a:solidFill>
              <a:srgbClr val="162E45"/>
            </a:solidFill>
            <a:prstDash val="solid"/>
          </a:ln>
        </p:spPr>
        <p:txBody>
          <a:bodyPr/>
          <a:lstStyle/>
          <a:p>
            <a:endParaRPr lang="en-US"/>
          </a:p>
        </p:txBody>
      </p:sp>
      <p:sp>
        <p:nvSpPr>
          <p:cNvPr id="31" name="Shape 25"/>
          <p:cNvSpPr/>
          <p:nvPr/>
        </p:nvSpPr>
        <p:spPr>
          <a:xfrm>
            <a:off x="320040" y="4572000"/>
            <a:ext cx="64008" cy="475488"/>
          </a:xfrm>
          <a:prstGeom prst="rect">
            <a:avLst/>
          </a:prstGeom>
          <a:solidFill>
            <a:srgbClr val="C5A030"/>
          </a:solidFill>
          <a:ln w="12700">
            <a:solidFill>
              <a:srgbClr val="C5A030"/>
            </a:solidFill>
            <a:prstDash val="solid"/>
          </a:ln>
        </p:spPr>
        <p:txBody>
          <a:bodyPr/>
          <a:lstStyle/>
          <a:p>
            <a:endParaRPr lang="en-US"/>
          </a:p>
        </p:txBody>
      </p:sp>
      <p:sp>
        <p:nvSpPr>
          <p:cNvPr id="32" name="Text 26"/>
          <p:cNvSpPr/>
          <p:nvPr/>
        </p:nvSpPr>
        <p:spPr>
          <a:xfrm>
            <a:off x="475488" y="4636008"/>
            <a:ext cx="8138160" cy="347472"/>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This is why the name is recursive — the system improves itself. Better configuration → better output → better signal → better configuration.</a:t>
            </a:r>
            <a:endParaRPr lang="en-US" sz="1400" dirty="0"/>
          </a:p>
        </p:txBody>
      </p:sp>
    </p:spTree>
    <p:extLst>
      <p:ext uri="{BB962C8B-B14F-4D97-AF65-F5344CB8AC3E}">
        <p14:creationId xmlns:p14="http://schemas.microsoft.com/office/powerpoint/2010/main" val="4249360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11480" y="256032"/>
            <a:ext cx="8229600" cy="201168"/>
          </a:xfrm>
          <a:prstGeom prst="rect">
            <a:avLst/>
          </a:prstGeom>
          <a:noFill/>
          <a:ln/>
        </p:spPr>
        <p:txBody>
          <a:bodyPr wrap="square" rtlCol="0" anchor="ctr"/>
          <a:lstStyle/>
          <a:p>
            <a:pPr marL="0" indent="0">
              <a:buNone/>
            </a:pPr>
            <a:r>
              <a:rPr lang="en-US" sz="800" b="1" kern="0" spc="300" dirty="0">
                <a:solidFill>
                  <a:srgbClr val="C5A030"/>
                </a:solidFill>
                <a:latin typeface="Calibri" pitchFamily="34" charset="0"/>
                <a:ea typeface="Calibri" pitchFamily="34" charset="-122"/>
                <a:cs typeface="Calibri" pitchFamily="34" charset="-120"/>
              </a:rPr>
              <a:t>WHAT'S NEXT</a:t>
            </a:r>
            <a:endParaRPr lang="en-US" sz="800" dirty="0"/>
          </a:p>
        </p:txBody>
      </p:sp>
      <p:sp>
        <p:nvSpPr>
          <p:cNvPr id="3" name="Text 1"/>
          <p:cNvSpPr/>
          <p:nvPr/>
        </p:nvSpPr>
        <p:spPr>
          <a:xfrm>
            <a:off x="411480" y="475488"/>
            <a:ext cx="8321040" cy="566928"/>
          </a:xfrm>
          <a:prstGeom prst="rect">
            <a:avLst/>
          </a:prstGeom>
          <a:noFill/>
          <a:ln/>
        </p:spPr>
        <p:txBody>
          <a:bodyPr wrap="square" lIns="0" tIns="0" rIns="0" bIns="0" rtlCol="0" anchor="ctr"/>
          <a:lstStyle/>
          <a:p>
            <a:pPr marL="0" indent="0">
              <a:buNone/>
            </a:pPr>
            <a:r>
              <a:rPr lang="en-US" sz="2200" b="1" dirty="0">
                <a:solidFill>
                  <a:srgbClr val="1E3A5F"/>
                </a:solidFill>
                <a:latin typeface="Georgia" pitchFamily="34" charset="0"/>
                <a:ea typeface="Georgia" pitchFamily="34" charset="-122"/>
                <a:cs typeface="Georgia" pitchFamily="34" charset="-120"/>
              </a:rPr>
              <a:t>Build 7 is live. Three open threads.</a:t>
            </a:r>
            <a:endParaRPr lang="en-US" sz="2200" dirty="0"/>
          </a:p>
        </p:txBody>
      </p:sp>
      <p:sp>
        <p:nvSpPr>
          <p:cNvPr id="4" name="Shape 2"/>
          <p:cNvSpPr/>
          <p:nvPr/>
        </p:nvSpPr>
        <p:spPr>
          <a:xfrm>
            <a:off x="411480" y="1261872"/>
            <a:ext cx="8321040" cy="1115568"/>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411480" y="1261872"/>
            <a:ext cx="64008" cy="1115568"/>
          </a:xfrm>
          <a:prstGeom prst="rect">
            <a:avLst/>
          </a:prstGeom>
          <a:solidFill>
            <a:srgbClr val="C5A030"/>
          </a:solidFill>
          <a:ln w="12700">
            <a:solidFill>
              <a:srgbClr val="C5A030"/>
            </a:solidFill>
            <a:prstDash val="solid"/>
          </a:ln>
        </p:spPr>
        <p:txBody>
          <a:bodyPr/>
          <a:lstStyle/>
          <a:p>
            <a:endParaRPr lang="en-US"/>
          </a:p>
        </p:txBody>
      </p:sp>
      <p:sp>
        <p:nvSpPr>
          <p:cNvPr id="6" name="Shape 4"/>
          <p:cNvSpPr/>
          <p:nvPr/>
        </p:nvSpPr>
        <p:spPr>
          <a:xfrm>
            <a:off x="566928" y="1554480"/>
            <a:ext cx="502920" cy="502920"/>
          </a:xfrm>
          <a:prstGeom prst="ellipse">
            <a:avLst/>
          </a:prstGeom>
          <a:solidFill>
            <a:srgbClr val="1E3A5F"/>
          </a:solidFill>
          <a:ln w="12700">
            <a:solidFill>
              <a:srgbClr val="1E3A5F"/>
            </a:solidFill>
            <a:prstDash val="solid"/>
          </a:ln>
        </p:spPr>
        <p:txBody>
          <a:bodyPr/>
          <a:lstStyle/>
          <a:p>
            <a:endParaRPr lang="en-US"/>
          </a:p>
        </p:txBody>
      </p:sp>
      <p:sp>
        <p:nvSpPr>
          <p:cNvPr id="7" name="Text 5"/>
          <p:cNvSpPr/>
          <p:nvPr/>
        </p:nvSpPr>
        <p:spPr>
          <a:xfrm>
            <a:off x="566928" y="15544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1188720" y="1353312"/>
            <a:ext cx="5486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First CLAIRE-A Eval Cycle</a:t>
            </a:r>
            <a:endParaRPr lang="en-US" sz="1400" dirty="0"/>
          </a:p>
        </p:txBody>
      </p:sp>
      <p:sp>
        <p:nvSpPr>
          <p:cNvPr id="9" name="Text 7"/>
          <p:cNvSpPr/>
          <p:nvPr/>
        </p:nvSpPr>
        <p:spPr>
          <a:xfrm>
            <a:off x="6858000" y="1353312"/>
            <a:ext cx="1691640"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Timeline: 14–21 days</a:t>
            </a:r>
            <a:endParaRPr lang="en-US" sz="1400" dirty="0"/>
          </a:p>
        </p:txBody>
      </p:sp>
      <p:sp>
        <p:nvSpPr>
          <p:cNvPr id="10" name="Text 8"/>
          <p:cNvSpPr/>
          <p:nvPr/>
        </p:nvSpPr>
        <p:spPr>
          <a:xfrm>
            <a:off x="1188720" y="1682496"/>
            <a:ext cx="7223760" cy="585216"/>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CLAIRE-A has been making shadow decisions since Build 5. In two to three weeks, enough time will have passed to score whether its autonomous decisions aligned with human ones. First real data on autonomous AI decision quality.</a:t>
            </a:r>
            <a:endParaRPr lang="en-US" sz="1400" dirty="0"/>
          </a:p>
        </p:txBody>
      </p:sp>
      <p:sp>
        <p:nvSpPr>
          <p:cNvPr id="11" name="Shape 9"/>
          <p:cNvSpPr/>
          <p:nvPr/>
        </p:nvSpPr>
        <p:spPr>
          <a:xfrm>
            <a:off x="411480" y="2523744"/>
            <a:ext cx="8321040" cy="1115568"/>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12" name="Shape 10"/>
          <p:cNvSpPr/>
          <p:nvPr/>
        </p:nvSpPr>
        <p:spPr>
          <a:xfrm>
            <a:off x="411480" y="2523744"/>
            <a:ext cx="64008" cy="1115568"/>
          </a:xfrm>
          <a:prstGeom prst="rect">
            <a:avLst/>
          </a:prstGeom>
          <a:solidFill>
            <a:srgbClr val="C5A030"/>
          </a:solidFill>
          <a:ln w="12700">
            <a:solidFill>
              <a:srgbClr val="C5A030"/>
            </a:solidFill>
            <a:prstDash val="solid"/>
          </a:ln>
        </p:spPr>
        <p:txBody>
          <a:bodyPr/>
          <a:lstStyle/>
          <a:p>
            <a:endParaRPr lang="en-US"/>
          </a:p>
        </p:txBody>
      </p:sp>
      <p:sp>
        <p:nvSpPr>
          <p:cNvPr id="13" name="Shape 11"/>
          <p:cNvSpPr/>
          <p:nvPr/>
        </p:nvSpPr>
        <p:spPr>
          <a:xfrm>
            <a:off x="566928" y="2816352"/>
            <a:ext cx="502920" cy="502920"/>
          </a:xfrm>
          <a:prstGeom prst="ellipse">
            <a:avLst/>
          </a:prstGeom>
          <a:solidFill>
            <a:srgbClr val="1E3A5F"/>
          </a:solidFill>
          <a:ln w="12700">
            <a:solidFill>
              <a:srgbClr val="1E3A5F"/>
            </a:solidFill>
            <a:prstDash val="solid"/>
          </a:ln>
        </p:spPr>
        <p:txBody>
          <a:bodyPr/>
          <a:lstStyle/>
          <a:p>
            <a:endParaRPr lang="en-US"/>
          </a:p>
        </p:txBody>
      </p:sp>
      <p:sp>
        <p:nvSpPr>
          <p:cNvPr id="14" name="Text 12"/>
          <p:cNvSpPr/>
          <p:nvPr/>
        </p:nvSpPr>
        <p:spPr>
          <a:xfrm>
            <a:off x="566928" y="281635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88720" y="2615184"/>
            <a:ext cx="5486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Packaging CLAIRE for Other Users</a:t>
            </a:r>
            <a:endParaRPr lang="en-US" sz="1400" dirty="0"/>
          </a:p>
        </p:txBody>
      </p:sp>
      <p:sp>
        <p:nvSpPr>
          <p:cNvPr id="16" name="Text 14"/>
          <p:cNvSpPr/>
          <p:nvPr/>
        </p:nvSpPr>
        <p:spPr>
          <a:xfrm>
            <a:off x="6858000" y="2615184"/>
            <a:ext cx="1866900"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Timeline: Next design session</a:t>
            </a:r>
            <a:endParaRPr lang="en-US" sz="1400" dirty="0"/>
          </a:p>
        </p:txBody>
      </p:sp>
      <p:sp>
        <p:nvSpPr>
          <p:cNvPr id="17" name="Text 15"/>
          <p:cNvSpPr/>
          <p:nvPr/>
        </p:nvSpPr>
        <p:spPr>
          <a:xfrm>
            <a:off x="1188720" y="2944368"/>
            <a:ext cx="7223760" cy="585216"/>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Stripping CLAIRE to a Claude Project system prompt — no Python, no local infrastructure. A stranger creates a Project, pastes the prompt, types 'Run CLAIRE', and gets a weekly digest. Zero code installation.</a:t>
            </a:r>
            <a:endParaRPr lang="en-US" sz="1400" dirty="0"/>
          </a:p>
        </p:txBody>
      </p:sp>
      <p:sp>
        <p:nvSpPr>
          <p:cNvPr id="18" name="Shape 16"/>
          <p:cNvSpPr/>
          <p:nvPr/>
        </p:nvSpPr>
        <p:spPr>
          <a:xfrm>
            <a:off x="411480" y="3785616"/>
            <a:ext cx="8321040" cy="1115568"/>
          </a:xfrm>
          <a:prstGeom prst="rect">
            <a:avLst/>
          </a:prstGeom>
          <a:solidFill>
            <a:srgbClr val="FFFFFF"/>
          </a:solidFill>
          <a:ln w="12700">
            <a:solidFill>
              <a:srgbClr val="FFFFFF"/>
            </a:solidFill>
            <a:prstDash val="solid"/>
          </a:ln>
          <a:effectLst>
            <a:outerShdw blurRad="101600" dist="25400" dir="8100000" algn="bl" rotWithShape="0">
              <a:srgbClr val="000000">
                <a:alpha val="12000"/>
              </a:srgbClr>
            </a:outerShdw>
          </a:effectLst>
        </p:spPr>
        <p:txBody>
          <a:bodyPr/>
          <a:lstStyle/>
          <a:p>
            <a:endParaRPr lang="en-US"/>
          </a:p>
        </p:txBody>
      </p:sp>
      <p:sp>
        <p:nvSpPr>
          <p:cNvPr id="19" name="Shape 17"/>
          <p:cNvSpPr/>
          <p:nvPr/>
        </p:nvSpPr>
        <p:spPr>
          <a:xfrm>
            <a:off x="411480" y="3785616"/>
            <a:ext cx="64008" cy="1115568"/>
          </a:xfrm>
          <a:prstGeom prst="rect">
            <a:avLst/>
          </a:prstGeom>
          <a:solidFill>
            <a:srgbClr val="C5A030"/>
          </a:solidFill>
          <a:ln w="12700">
            <a:solidFill>
              <a:srgbClr val="C5A030"/>
            </a:solidFill>
            <a:prstDash val="solid"/>
          </a:ln>
        </p:spPr>
        <p:txBody>
          <a:bodyPr/>
          <a:lstStyle/>
          <a:p>
            <a:endParaRPr lang="en-US"/>
          </a:p>
        </p:txBody>
      </p:sp>
      <p:sp>
        <p:nvSpPr>
          <p:cNvPr id="20" name="Shape 18"/>
          <p:cNvSpPr/>
          <p:nvPr/>
        </p:nvSpPr>
        <p:spPr>
          <a:xfrm>
            <a:off x="566928" y="4078224"/>
            <a:ext cx="502920" cy="502920"/>
          </a:xfrm>
          <a:prstGeom prst="ellipse">
            <a:avLst/>
          </a:prstGeom>
          <a:solidFill>
            <a:srgbClr val="1E3A5F"/>
          </a:solidFill>
          <a:ln w="12700">
            <a:solidFill>
              <a:srgbClr val="1E3A5F"/>
            </a:solidFill>
            <a:prstDash val="solid"/>
          </a:ln>
        </p:spPr>
        <p:txBody>
          <a:bodyPr/>
          <a:lstStyle/>
          <a:p>
            <a:endParaRPr lang="en-US"/>
          </a:p>
        </p:txBody>
      </p:sp>
      <p:sp>
        <p:nvSpPr>
          <p:cNvPr id="21" name="Text 19"/>
          <p:cNvSpPr/>
          <p:nvPr/>
        </p:nvSpPr>
        <p:spPr>
          <a:xfrm>
            <a:off x="566928" y="4078224"/>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2" name="Text 20"/>
          <p:cNvSpPr/>
          <p:nvPr/>
        </p:nvSpPr>
        <p:spPr>
          <a:xfrm>
            <a:off x="1188720" y="3877056"/>
            <a:ext cx="5486400" cy="27432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Build 8 — Expanding Signal Sources</a:t>
            </a:r>
            <a:endParaRPr lang="en-US" sz="1400" dirty="0"/>
          </a:p>
        </p:txBody>
      </p:sp>
      <p:sp>
        <p:nvSpPr>
          <p:cNvPr id="23" name="Text 21"/>
          <p:cNvSpPr/>
          <p:nvPr/>
        </p:nvSpPr>
        <p:spPr>
          <a:xfrm>
            <a:off x="6858000" y="3877056"/>
            <a:ext cx="1691640" cy="274320"/>
          </a:xfrm>
          <a:prstGeom prst="rect">
            <a:avLst/>
          </a:prstGeom>
          <a:noFill/>
          <a:ln/>
        </p:spPr>
        <p:txBody>
          <a:bodyPr wrap="square" lIns="0" tIns="0" rIns="0" bIns="0" rtlCol="0" anchor="ctr"/>
          <a:lstStyle/>
          <a:p>
            <a:pPr marL="0" indent="0">
              <a:buNone/>
            </a:pPr>
            <a:r>
              <a:rPr lang="en-US" sz="1400" b="1" dirty="0">
                <a:solidFill>
                  <a:srgbClr val="C5A030"/>
                </a:solidFill>
                <a:latin typeface="Calibri" pitchFamily="34" charset="0"/>
                <a:ea typeface="Calibri" pitchFamily="34" charset="-122"/>
                <a:cs typeface="Calibri" pitchFamily="34" charset="-120"/>
              </a:rPr>
              <a:t>Timeline: After packaging</a:t>
            </a:r>
            <a:endParaRPr lang="en-US" sz="1400" dirty="0"/>
          </a:p>
        </p:txBody>
      </p:sp>
      <p:sp>
        <p:nvSpPr>
          <p:cNvPr id="24" name="Text 22"/>
          <p:cNvSpPr/>
          <p:nvPr/>
        </p:nvSpPr>
        <p:spPr>
          <a:xfrm>
            <a:off x="1188720" y="4206240"/>
            <a:ext cx="7223760" cy="585216"/>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Adding X/Twitter and Substack RSS feeds to the ingest layer. Targets the gap in regulated-industry AI use discussion. More signal diversity means better candidates.</a:t>
            </a:r>
            <a:endParaRPr lang="en-US" sz="1400" dirty="0"/>
          </a:p>
        </p:txBody>
      </p:sp>
    </p:spTree>
    <p:extLst>
      <p:ext uri="{BB962C8B-B14F-4D97-AF65-F5344CB8AC3E}">
        <p14:creationId xmlns:p14="http://schemas.microsoft.com/office/powerpoint/2010/main" val="1757398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036"/>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5A030"/>
          </a:solidFill>
          <a:ln w="12700">
            <a:solidFill>
              <a:srgbClr val="C5A030"/>
            </a:solidFill>
            <a:prstDash val="solid"/>
          </a:ln>
        </p:spPr>
        <p:txBody>
          <a:bodyPr/>
          <a:lstStyle/>
          <a:p>
            <a:endParaRPr lang="en-US"/>
          </a:p>
        </p:txBody>
      </p:sp>
      <p:sp>
        <p:nvSpPr>
          <p:cNvPr id="3" name="Shape 1"/>
          <p:cNvSpPr/>
          <p:nvPr/>
        </p:nvSpPr>
        <p:spPr>
          <a:xfrm>
            <a:off x="6400800" y="-1828800"/>
            <a:ext cx="4754880" cy="4754880"/>
          </a:xfrm>
          <a:prstGeom prst="ellipse">
            <a:avLst/>
          </a:prstGeom>
          <a:solidFill>
            <a:srgbClr val="2A4A73">
              <a:alpha val="45000"/>
            </a:srgbClr>
          </a:solidFill>
          <a:ln w="12700">
            <a:solidFill>
              <a:srgbClr val="2A4A73">
                <a:alpha val="45000"/>
              </a:srgbClr>
            </a:solidFill>
            <a:prstDash val="solid"/>
          </a:ln>
        </p:spPr>
        <p:txBody>
          <a:bodyPr/>
          <a:lstStyle/>
          <a:p>
            <a:endParaRPr lang="en-US"/>
          </a:p>
        </p:txBody>
      </p:sp>
      <p:sp>
        <p:nvSpPr>
          <p:cNvPr id="4" name="Shape 2"/>
          <p:cNvSpPr/>
          <p:nvPr/>
        </p:nvSpPr>
        <p:spPr>
          <a:xfrm>
            <a:off x="-1371600" y="2743200"/>
            <a:ext cx="4114800" cy="4114800"/>
          </a:xfrm>
          <a:prstGeom prst="ellipse">
            <a:avLst/>
          </a:prstGeom>
          <a:solidFill>
            <a:srgbClr val="2A4A73">
              <a:alpha val="45000"/>
            </a:srgbClr>
          </a:solidFill>
          <a:ln w="12700">
            <a:solidFill>
              <a:srgbClr val="2A4A73">
                <a:alpha val="45000"/>
              </a:srgbClr>
            </a:solidFill>
            <a:prstDash val="solid"/>
          </a:ln>
        </p:spPr>
        <p:txBody>
          <a:bodyPr/>
          <a:lstStyle/>
          <a:p>
            <a:endParaRPr lang="en-US"/>
          </a:p>
        </p:txBody>
      </p:sp>
      <p:sp>
        <p:nvSpPr>
          <p:cNvPr id="5" name="Text 3"/>
          <p:cNvSpPr/>
          <p:nvPr/>
        </p:nvSpPr>
        <p:spPr>
          <a:xfrm>
            <a:off x="411480" y="548640"/>
            <a:ext cx="8229600" cy="320040"/>
          </a:xfrm>
          <a:prstGeom prst="rect">
            <a:avLst/>
          </a:prstGeom>
          <a:noFill/>
          <a:ln/>
        </p:spPr>
        <p:txBody>
          <a:bodyPr wrap="square" lIns="0" tIns="0" rIns="0" bIns="0" rtlCol="0" anchor="ctr"/>
          <a:lstStyle/>
          <a:p>
            <a:pPr marL="0" indent="0">
              <a:buNone/>
            </a:pPr>
            <a:r>
              <a:rPr lang="en-US" sz="1200" b="1" kern="0" spc="300" dirty="0">
                <a:solidFill>
                  <a:srgbClr val="C5A030"/>
                </a:solidFill>
                <a:latin typeface="Calibri" pitchFamily="34" charset="0"/>
                <a:ea typeface="Calibri" pitchFamily="34" charset="-122"/>
                <a:cs typeface="Calibri" pitchFamily="34" charset="-120"/>
              </a:rPr>
              <a:t>The Thesis</a:t>
            </a:r>
            <a:endParaRPr lang="en-US" sz="1200" dirty="0"/>
          </a:p>
        </p:txBody>
      </p:sp>
      <p:sp>
        <p:nvSpPr>
          <p:cNvPr id="6" name="Text 4"/>
          <p:cNvSpPr/>
          <p:nvPr/>
        </p:nvSpPr>
        <p:spPr>
          <a:xfrm>
            <a:off x="411480" y="960120"/>
            <a:ext cx="8321040" cy="132588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AI is not a tool you buy.</a:t>
            </a:r>
            <a:endParaRPr lang="en-US" sz="3800" dirty="0"/>
          </a:p>
          <a:p>
            <a:pPr marL="0" indent="0">
              <a:buNone/>
            </a:pPr>
            <a:r>
              <a:rPr lang="en-US" sz="3800" b="1" dirty="0">
                <a:solidFill>
                  <a:srgbClr val="FFFFFF"/>
                </a:solidFill>
                <a:latin typeface="Georgia" pitchFamily="34" charset="0"/>
                <a:ea typeface="Georgia" pitchFamily="34" charset="-122"/>
                <a:cs typeface="Georgia" pitchFamily="34" charset="-120"/>
              </a:rPr>
              <a:t>It's a capability you build.</a:t>
            </a:r>
            <a:endParaRPr lang="en-US" sz="3800" dirty="0"/>
          </a:p>
        </p:txBody>
      </p:sp>
      <p:sp>
        <p:nvSpPr>
          <p:cNvPr id="7" name="Text 5"/>
          <p:cNvSpPr/>
          <p:nvPr/>
        </p:nvSpPr>
        <p:spPr>
          <a:xfrm>
            <a:off x="411480" y="2395728"/>
            <a:ext cx="8321040" cy="2103120"/>
          </a:xfrm>
          <a:prstGeom prst="rect">
            <a:avLst/>
          </a:prstGeom>
          <a:noFill/>
          <a:ln/>
        </p:spPr>
        <p:txBody>
          <a:bodyPr wrap="square" lIns="0" tIns="0" rIns="0" bIns="0" rtlCol="0" anchor="t"/>
          <a:lstStyle/>
          <a:p>
            <a:pPr marL="0" indent="0">
              <a:buNone/>
            </a:pPr>
            <a:r>
              <a:rPr lang="en-US" sz="1500" b="1" dirty="0">
                <a:solidFill>
                  <a:srgbClr val="C5A030"/>
                </a:solidFill>
              </a:rPr>
              <a:t>CLAIRE </a:t>
            </a:r>
            <a:r>
              <a:rPr lang="en-US" sz="1400" dirty="0">
                <a:solidFill>
                  <a:srgbClr val="FFFFFF"/>
                </a:solidFill>
              </a:rPr>
              <a:t>is proof that a focused practitioner — with $0.30 a week in AI compute and a commitment to one weekly review — can build a version of Claude measurably better calibrated to their specific domain, workflow, and standards than the version every other subscriber gets.
</a:t>
            </a:r>
            <a:r>
              <a:rPr lang="en-US" sz="1400" i="1" dirty="0">
                <a:solidFill>
                  <a:srgbClr val="E2E8F0"/>
                </a:solidFill>
              </a:rPr>
              <a:t>That's the value. The pipeline is just the mechanism.</a:t>
            </a:r>
            <a:endParaRPr lang="en-US" sz="1500" dirty="0"/>
          </a:p>
        </p:txBody>
      </p:sp>
      <p:sp>
        <p:nvSpPr>
          <p:cNvPr id="8" name="Shape 6"/>
          <p:cNvSpPr/>
          <p:nvPr/>
        </p:nvSpPr>
        <p:spPr>
          <a:xfrm>
            <a:off x="411480" y="4892040"/>
            <a:ext cx="8321040" cy="0"/>
          </a:xfrm>
          <a:prstGeom prst="line">
            <a:avLst/>
          </a:prstGeom>
          <a:noFill/>
          <a:ln w="12700">
            <a:solidFill>
              <a:srgbClr val="C5A030"/>
            </a:solidFill>
            <a:prstDash val="solid"/>
          </a:ln>
        </p:spPr>
        <p:txBody>
          <a:bodyPr/>
          <a:lstStyle/>
          <a:p>
            <a:endParaRPr lang="en-US"/>
          </a:p>
        </p:txBody>
      </p:sp>
      <p:sp>
        <p:nvSpPr>
          <p:cNvPr id="9" name="Text 7"/>
          <p:cNvSpPr/>
          <p:nvPr/>
        </p:nvSpPr>
        <p:spPr>
          <a:xfrm>
            <a:off x="411480" y="4937760"/>
            <a:ext cx="8321040" cy="182880"/>
          </a:xfrm>
          <a:prstGeom prst="rect">
            <a:avLst/>
          </a:prstGeom>
          <a:noFill/>
          <a:ln/>
        </p:spPr>
        <p:txBody>
          <a:bodyPr wrap="square" lIns="0" tIns="0" rIns="0" bIns="0" rtlCol="0" anchor="ctr"/>
          <a:lstStyle/>
          <a:p>
            <a:pPr marL="0" indent="0">
              <a:buNone/>
            </a:pPr>
            <a:r>
              <a:rPr lang="en-US" sz="900" kern="0" spc="200" dirty="0">
                <a:solidFill>
                  <a:srgbClr val="64748B"/>
                </a:solidFill>
                <a:latin typeface="Calibri" pitchFamily="34" charset="0"/>
                <a:ea typeface="Calibri" pitchFamily="34" charset="-122"/>
                <a:cs typeface="Calibri" pitchFamily="34" charset="-120"/>
              </a:rPr>
              <a:t>CLAIRE  ·  Build 7  ·  April 2026  ·  Internal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47078C5-1006-4E79-9830-2B7B4279B7AF}">
  <we:reference id="wa200010001" version="1.0.0.1" store="en-US" storeType="OMEX"/>
  <we:alternateReferences>
    <we:reference id="wa200010001" version="1.0.0.1" store="wa200010001" storeType="OMEX"/>
  </we:alternateReferences>
  <we:properties>
    <we:property name="claude.fileId" value="&quot;77440b2f-4e18-4982-aa58-fcc31b41556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TotalTime>
  <Words>1596</Words>
  <Application>Microsoft Office PowerPoint</Application>
  <PresentationFormat>On-screen Show (16:9)</PresentationFormat>
  <Paragraphs>217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CLAIRE — Executive Presentation</dc:title>
  <dc:subject>PptxGenJS Presentation</dc:subject>
  <dc:creator>PptxGenJS</dc:creator>
  <cp:lastModifiedBy>James Cole</cp:lastModifiedBy>
  <cp:revision>2</cp:revision>
  <dcterms:created xsi:type="dcterms:W3CDTF">2026-04-27T13:48:35Z</dcterms:created>
  <dcterms:modified xsi:type="dcterms:W3CDTF">2026-04-27T14:12:39Z</dcterms:modified>
</cp:coreProperties>
</file>